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95" r:id="rId5"/>
    <p:sldId id="294" r:id="rId6"/>
    <p:sldId id="259" r:id="rId7"/>
    <p:sldId id="270" r:id="rId8"/>
    <p:sldId id="268" r:id="rId9"/>
    <p:sldId id="269" r:id="rId10"/>
    <p:sldId id="297" r:id="rId11"/>
    <p:sldId id="260" r:id="rId12"/>
    <p:sldId id="296" r:id="rId13"/>
    <p:sldId id="272" r:id="rId14"/>
    <p:sldId id="265" r:id="rId15"/>
    <p:sldId id="266" r:id="rId16"/>
    <p:sldId id="292" r:id="rId17"/>
    <p:sldId id="298" r:id="rId18"/>
    <p:sldId id="299" r:id="rId19"/>
    <p:sldId id="300" r:id="rId20"/>
    <p:sldId id="275" r:id="rId21"/>
    <p:sldId id="276" r:id="rId22"/>
    <p:sldId id="277" r:id="rId23"/>
    <p:sldId id="267" r:id="rId24"/>
    <p:sldId id="278" r:id="rId25"/>
    <p:sldId id="279" r:id="rId26"/>
    <p:sldId id="280" r:id="rId27"/>
    <p:sldId id="302" r:id="rId28"/>
    <p:sldId id="301" r:id="rId29"/>
    <p:sldId id="285" r:id="rId30"/>
    <p:sldId id="286" r:id="rId31"/>
    <p:sldId id="287" r:id="rId32"/>
    <p:sldId id="288" r:id="rId33"/>
    <p:sldId id="289" r:id="rId34"/>
    <p:sldId id="290" r:id="rId35"/>
    <p:sldId id="291" r:id="rId36"/>
    <p:sldId id="293" r:id="rId37"/>
    <p:sldId id="281" r:id="rId38"/>
    <p:sldId id="282" r:id="rId39"/>
    <p:sldId id="283" r:id="rId40"/>
    <p:sldId id="284" r:id="rId41"/>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EB33E3-9D60-7493-A4E5-CD56C011DC7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016A4037-84DF-7420-3F7C-D450EADCD7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0C777320-FBEB-3268-EB42-D3B0701924E5}"/>
              </a:ext>
            </a:extLst>
          </p:cNvPr>
          <p:cNvSpPr>
            <a:spLocks noGrp="1"/>
          </p:cNvSpPr>
          <p:nvPr>
            <p:ph type="dt" sz="half" idx="10"/>
          </p:nvPr>
        </p:nvSpPr>
        <p:spPr/>
        <p:txBody>
          <a:bodyPr/>
          <a:lstStyle/>
          <a:p>
            <a:fld id="{288EEFF7-0602-4BE2-B6FB-250721F668E2}" type="datetimeFigureOut">
              <a:rPr lang="es-CO" smtClean="0"/>
              <a:t>16/08/2026</a:t>
            </a:fld>
            <a:endParaRPr lang="es-CO"/>
          </a:p>
        </p:txBody>
      </p:sp>
      <p:sp>
        <p:nvSpPr>
          <p:cNvPr id="5" name="Marcador de pie de página 4">
            <a:extLst>
              <a:ext uri="{FF2B5EF4-FFF2-40B4-BE49-F238E27FC236}">
                <a16:creationId xmlns:a16="http://schemas.microsoft.com/office/drawing/2014/main" id="{262A7C9E-B4A8-326F-AA29-C5B2FD03A5C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7D384C4-C1C2-D761-3C13-8B7B80095B17}"/>
              </a:ext>
            </a:extLst>
          </p:cNvPr>
          <p:cNvSpPr>
            <a:spLocks noGrp="1"/>
          </p:cNvSpPr>
          <p:nvPr>
            <p:ph type="sldNum" sz="quarter" idx="12"/>
          </p:nvPr>
        </p:nvSpPr>
        <p:spPr/>
        <p:txBody>
          <a:bodyPr/>
          <a:lstStyle/>
          <a:p>
            <a:fld id="{DC7710BA-AFA1-4E45-AAB8-888B3429F9D5}" type="slidenum">
              <a:rPr lang="es-CO" smtClean="0"/>
              <a:t>‹Nº›</a:t>
            </a:fld>
            <a:endParaRPr lang="es-CO"/>
          </a:p>
        </p:txBody>
      </p:sp>
    </p:spTree>
    <p:extLst>
      <p:ext uri="{BB962C8B-B14F-4D97-AF65-F5344CB8AC3E}">
        <p14:creationId xmlns:p14="http://schemas.microsoft.com/office/powerpoint/2010/main" val="1119887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4A9B51-2FC6-9010-2F18-157B06623FF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DFC310A9-B65E-CF78-525B-CBB3534E1E7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B4F6E0C-09A1-1AA7-6638-474629DFFEBC}"/>
              </a:ext>
            </a:extLst>
          </p:cNvPr>
          <p:cNvSpPr>
            <a:spLocks noGrp="1"/>
          </p:cNvSpPr>
          <p:nvPr>
            <p:ph type="dt" sz="half" idx="10"/>
          </p:nvPr>
        </p:nvSpPr>
        <p:spPr/>
        <p:txBody>
          <a:bodyPr/>
          <a:lstStyle/>
          <a:p>
            <a:fld id="{288EEFF7-0602-4BE2-B6FB-250721F668E2}" type="datetimeFigureOut">
              <a:rPr lang="es-CO" smtClean="0"/>
              <a:t>16/08/2026</a:t>
            </a:fld>
            <a:endParaRPr lang="es-CO"/>
          </a:p>
        </p:txBody>
      </p:sp>
      <p:sp>
        <p:nvSpPr>
          <p:cNvPr id="5" name="Marcador de pie de página 4">
            <a:extLst>
              <a:ext uri="{FF2B5EF4-FFF2-40B4-BE49-F238E27FC236}">
                <a16:creationId xmlns:a16="http://schemas.microsoft.com/office/drawing/2014/main" id="{6272DE20-4A45-F173-EA19-A8834392301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CAA72C7-1AC0-B987-1122-228D0CC1136F}"/>
              </a:ext>
            </a:extLst>
          </p:cNvPr>
          <p:cNvSpPr>
            <a:spLocks noGrp="1"/>
          </p:cNvSpPr>
          <p:nvPr>
            <p:ph type="sldNum" sz="quarter" idx="12"/>
          </p:nvPr>
        </p:nvSpPr>
        <p:spPr/>
        <p:txBody>
          <a:bodyPr/>
          <a:lstStyle/>
          <a:p>
            <a:fld id="{DC7710BA-AFA1-4E45-AAB8-888B3429F9D5}" type="slidenum">
              <a:rPr lang="es-CO" smtClean="0"/>
              <a:t>‹Nº›</a:t>
            </a:fld>
            <a:endParaRPr lang="es-CO"/>
          </a:p>
        </p:txBody>
      </p:sp>
    </p:spTree>
    <p:extLst>
      <p:ext uri="{BB962C8B-B14F-4D97-AF65-F5344CB8AC3E}">
        <p14:creationId xmlns:p14="http://schemas.microsoft.com/office/powerpoint/2010/main" val="819435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F3AA41-0191-AC31-1C2B-36042DA98BD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554FE228-9C68-048E-7171-6EF9F7EED3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1A2F4D9-31BA-92CD-EA8D-A0D6C0BF6AA3}"/>
              </a:ext>
            </a:extLst>
          </p:cNvPr>
          <p:cNvSpPr>
            <a:spLocks noGrp="1"/>
          </p:cNvSpPr>
          <p:nvPr>
            <p:ph type="dt" sz="half" idx="10"/>
          </p:nvPr>
        </p:nvSpPr>
        <p:spPr/>
        <p:txBody>
          <a:bodyPr/>
          <a:lstStyle/>
          <a:p>
            <a:fld id="{288EEFF7-0602-4BE2-B6FB-250721F668E2}" type="datetimeFigureOut">
              <a:rPr lang="es-CO" smtClean="0"/>
              <a:t>16/08/2026</a:t>
            </a:fld>
            <a:endParaRPr lang="es-CO"/>
          </a:p>
        </p:txBody>
      </p:sp>
      <p:sp>
        <p:nvSpPr>
          <p:cNvPr id="5" name="Marcador de pie de página 4">
            <a:extLst>
              <a:ext uri="{FF2B5EF4-FFF2-40B4-BE49-F238E27FC236}">
                <a16:creationId xmlns:a16="http://schemas.microsoft.com/office/drawing/2014/main" id="{984C64E1-72FF-C177-D50E-397BE21CA71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ED03B27-04AA-7317-48DE-87961A64204C}"/>
              </a:ext>
            </a:extLst>
          </p:cNvPr>
          <p:cNvSpPr>
            <a:spLocks noGrp="1"/>
          </p:cNvSpPr>
          <p:nvPr>
            <p:ph type="sldNum" sz="quarter" idx="12"/>
          </p:nvPr>
        </p:nvSpPr>
        <p:spPr/>
        <p:txBody>
          <a:bodyPr/>
          <a:lstStyle/>
          <a:p>
            <a:fld id="{DC7710BA-AFA1-4E45-AAB8-888B3429F9D5}" type="slidenum">
              <a:rPr lang="es-CO" smtClean="0"/>
              <a:t>‹Nº›</a:t>
            </a:fld>
            <a:endParaRPr lang="es-CO"/>
          </a:p>
        </p:txBody>
      </p:sp>
    </p:spTree>
    <p:extLst>
      <p:ext uri="{BB962C8B-B14F-4D97-AF65-F5344CB8AC3E}">
        <p14:creationId xmlns:p14="http://schemas.microsoft.com/office/powerpoint/2010/main" val="4244879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8C7E8A-7235-78CF-62AD-7FA3743D16E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AA50CE55-AF05-8794-8E37-83AA546ECCA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957C00C9-E64B-72C8-C791-317E776575C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32854915-47F4-68DF-1966-EB65C5E029E5}"/>
              </a:ext>
            </a:extLst>
          </p:cNvPr>
          <p:cNvSpPr>
            <a:spLocks noGrp="1"/>
          </p:cNvSpPr>
          <p:nvPr>
            <p:ph type="dt" sz="half" idx="10"/>
          </p:nvPr>
        </p:nvSpPr>
        <p:spPr/>
        <p:txBody>
          <a:bodyPr/>
          <a:lstStyle/>
          <a:p>
            <a:fld id="{288EEFF7-0602-4BE2-B6FB-250721F668E2}" type="datetimeFigureOut">
              <a:rPr lang="es-CO" smtClean="0"/>
              <a:t>16/08/2026</a:t>
            </a:fld>
            <a:endParaRPr lang="es-CO"/>
          </a:p>
        </p:txBody>
      </p:sp>
      <p:sp>
        <p:nvSpPr>
          <p:cNvPr id="6" name="Marcador de pie de página 5">
            <a:extLst>
              <a:ext uri="{FF2B5EF4-FFF2-40B4-BE49-F238E27FC236}">
                <a16:creationId xmlns:a16="http://schemas.microsoft.com/office/drawing/2014/main" id="{01F6D5EE-0E77-B6C1-E26A-EBD0DD876E1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8984956-D019-8C2D-44F9-739730BA8434}"/>
              </a:ext>
            </a:extLst>
          </p:cNvPr>
          <p:cNvSpPr>
            <a:spLocks noGrp="1"/>
          </p:cNvSpPr>
          <p:nvPr>
            <p:ph type="sldNum" sz="quarter" idx="12"/>
          </p:nvPr>
        </p:nvSpPr>
        <p:spPr/>
        <p:txBody>
          <a:bodyPr/>
          <a:lstStyle/>
          <a:p>
            <a:fld id="{DC7710BA-AFA1-4E45-AAB8-888B3429F9D5}" type="slidenum">
              <a:rPr lang="es-CO" smtClean="0"/>
              <a:t>‹Nº›</a:t>
            </a:fld>
            <a:endParaRPr lang="es-CO"/>
          </a:p>
        </p:txBody>
      </p:sp>
    </p:spTree>
    <p:extLst>
      <p:ext uri="{BB962C8B-B14F-4D97-AF65-F5344CB8AC3E}">
        <p14:creationId xmlns:p14="http://schemas.microsoft.com/office/powerpoint/2010/main" val="1906613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1529A7-EC71-AE3A-BC93-0869C188E70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BF6512A8-299D-AEA1-04F1-C80036EBF3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161B8EB-FE99-641B-E075-DB14065B5E7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DB714304-C0D6-909D-2703-18907DB3CE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FBD3CCD-D40A-7132-5BF4-851FB34EA95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B6239A02-C425-3E69-62DC-D1D2603B6C96}"/>
              </a:ext>
            </a:extLst>
          </p:cNvPr>
          <p:cNvSpPr>
            <a:spLocks noGrp="1"/>
          </p:cNvSpPr>
          <p:nvPr>
            <p:ph type="dt" sz="half" idx="10"/>
          </p:nvPr>
        </p:nvSpPr>
        <p:spPr/>
        <p:txBody>
          <a:bodyPr/>
          <a:lstStyle/>
          <a:p>
            <a:fld id="{288EEFF7-0602-4BE2-B6FB-250721F668E2}" type="datetimeFigureOut">
              <a:rPr lang="es-CO" smtClean="0"/>
              <a:t>16/08/2026</a:t>
            </a:fld>
            <a:endParaRPr lang="es-CO"/>
          </a:p>
        </p:txBody>
      </p:sp>
      <p:sp>
        <p:nvSpPr>
          <p:cNvPr id="8" name="Marcador de pie de página 7">
            <a:extLst>
              <a:ext uri="{FF2B5EF4-FFF2-40B4-BE49-F238E27FC236}">
                <a16:creationId xmlns:a16="http://schemas.microsoft.com/office/drawing/2014/main" id="{CC38420F-B126-671C-3F5E-B13CE49E3D0C}"/>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D7371FF8-C32E-D84D-A836-F78FFC48861E}"/>
              </a:ext>
            </a:extLst>
          </p:cNvPr>
          <p:cNvSpPr>
            <a:spLocks noGrp="1"/>
          </p:cNvSpPr>
          <p:nvPr>
            <p:ph type="sldNum" sz="quarter" idx="12"/>
          </p:nvPr>
        </p:nvSpPr>
        <p:spPr/>
        <p:txBody>
          <a:bodyPr/>
          <a:lstStyle/>
          <a:p>
            <a:fld id="{DC7710BA-AFA1-4E45-AAB8-888B3429F9D5}" type="slidenum">
              <a:rPr lang="es-CO" smtClean="0"/>
              <a:t>‹Nº›</a:t>
            </a:fld>
            <a:endParaRPr lang="es-CO"/>
          </a:p>
        </p:txBody>
      </p:sp>
    </p:spTree>
    <p:extLst>
      <p:ext uri="{BB962C8B-B14F-4D97-AF65-F5344CB8AC3E}">
        <p14:creationId xmlns:p14="http://schemas.microsoft.com/office/powerpoint/2010/main" val="4024946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BFFE02-6169-CE79-0E07-43DA1CDE95F3}"/>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E66A962D-532B-33AE-4CF0-C009195311BE}"/>
              </a:ext>
            </a:extLst>
          </p:cNvPr>
          <p:cNvSpPr>
            <a:spLocks noGrp="1"/>
          </p:cNvSpPr>
          <p:nvPr>
            <p:ph type="dt" sz="half" idx="10"/>
          </p:nvPr>
        </p:nvSpPr>
        <p:spPr/>
        <p:txBody>
          <a:bodyPr/>
          <a:lstStyle/>
          <a:p>
            <a:fld id="{288EEFF7-0602-4BE2-B6FB-250721F668E2}" type="datetimeFigureOut">
              <a:rPr lang="es-CO" smtClean="0"/>
              <a:t>16/08/2026</a:t>
            </a:fld>
            <a:endParaRPr lang="es-CO"/>
          </a:p>
        </p:txBody>
      </p:sp>
      <p:sp>
        <p:nvSpPr>
          <p:cNvPr id="4" name="Marcador de pie de página 3">
            <a:extLst>
              <a:ext uri="{FF2B5EF4-FFF2-40B4-BE49-F238E27FC236}">
                <a16:creationId xmlns:a16="http://schemas.microsoft.com/office/drawing/2014/main" id="{D4243B0B-0838-D5B1-AE6D-3F3A2F217CE3}"/>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D3308C5B-15B3-5589-656A-A0EA09A49AD4}"/>
              </a:ext>
            </a:extLst>
          </p:cNvPr>
          <p:cNvSpPr>
            <a:spLocks noGrp="1"/>
          </p:cNvSpPr>
          <p:nvPr>
            <p:ph type="sldNum" sz="quarter" idx="12"/>
          </p:nvPr>
        </p:nvSpPr>
        <p:spPr/>
        <p:txBody>
          <a:bodyPr/>
          <a:lstStyle/>
          <a:p>
            <a:fld id="{DC7710BA-AFA1-4E45-AAB8-888B3429F9D5}" type="slidenum">
              <a:rPr lang="es-CO" smtClean="0"/>
              <a:t>‹Nº›</a:t>
            </a:fld>
            <a:endParaRPr lang="es-CO"/>
          </a:p>
        </p:txBody>
      </p:sp>
    </p:spTree>
    <p:extLst>
      <p:ext uri="{BB962C8B-B14F-4D97-AF65-F5344CB8AC3E}">
        <p14:creationId xmlns:p14="http://schemas.microsoft.com/office/powerpoint/2010/main" val="4124763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DB726561-C4A6-2694-640C-C720D55F6D2A}"/>
              </a:ext>
            </a:extLst>
          </p:cNvPr>
          <p:cNvSpPr>
            <a:spLocks noGrp="1"/>
          </p:cNvSpPr>
          <p:nvPr>
            <p:ph type="dt" sz="half" idx="10"/>
          </p:nvPr>
        </p:nvSpPr>
        <p:spPr/>
        <p:txBody>
          <a:bodyPr/>
          <a:lstStyle/>
          <a:p>
            <a:fld id="{288EEFF7-0602-4BE2-B6FB-250721F668E2}" type="datetimeFigureOut">
              <a:rPr lang="es-CO" smtClean="0"/>
              <a:t>16/08/2026</a:t>
            </a:fld>
            <a:endParaRPr lang="es-CO"/>
          </a:p>
        </p:txBody>
      </p:sp>
      <p:sp>
        <p:nvSpPr>
          <p:cNvPr id="3" name="Marcador de pie de página 2">
            <a:extLst>
              <a:ext uri="{FF2B5EF4-FFF2-40B4-BE49-F238E27FC236}">
                <a16:creationId xmlns:a16="http://schemas.microsoft.com/office/drawing/2014/main" id="{D42B0448-508A-B799-A8C0-E5E3B6242F86}"/>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E9ADE1D1-BCDB-3C72-7371-2E27C9A6B5C9}"/>
              </a:ext>
            </a:extLst>
          </p:cNvPr>
          <p:cNvSpPr>
            <a:spLocks noGrp="1"/>
          </p:cNvSpPr>
          <p:nvPr>
            <p:ph type="sldNum" sz="quarter" idx="12"/>
          </p:nvPr>
        </p:nvSpPr>
        <p:spPr/>
        <p:txBody>
          <a:bodyPr/>
          <a:lstStyle/>
          <a:p>
            <a:fld id="{DC7710BA-AFA1-4E45-AAB8-888B3429F9D5}" type="slidenum">
              <a:rPr lang="es-CO" smtClean="0"/>
              <a:t>‹Nº›</a:t>
            </a:fld>
            <a:endParaRPr lang="es-CO"/>
          </a:p>
        </p:txBody>
      </p:sp>
    </p:spTree>
    <p:extLst>
      <p:ext uri="{BB962C8B-B14F-4D97-AF65-F5344CB8AC3E}">
        <p14:creationId xmlns:p14="http://schemas.microsoft.com/office/powerpoint/2010/main" val="3033113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08F16E-6FCA-4B9A-BCC1-95348535DD5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E9F7725C-AC22-ADD4-6732-26769EE07A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719873E6-FEE0-D447-6C9B-3940F2262E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23D7BA2-4B94-A8D8-C0FD-3891E8A1D1CD}"/>
              </a:ext>
            </a:extLst>
          </p:cNvPr>
          <p:cNvSpPr>
            <a:spLocks noGrp="1"/>
          </p:cNvSpPr>
          <p:nvPr>
            <p:ph type="dt" sz="half" idx="10"/>
          </p:nvPr>
        </p:nvSpPr>
        <p:spPr/>
        <p:txBody>
          <a:bodyPr/>
          <a:lstStyle/>
          <a:p>
            <a:fld id="{288EEFF7-0602-4BE2-B6FB-250721F668E2}" type="datetimeFigureOut">
              <a:rPr lang="es-CO" smtClean="0"/>
              <a:t>16/08/2026</a:t>
            </a:fld>
            <a:endParaRPr lang="es-CO"/>
          </a:p>
        </p:txBody>
      </p:sp>
      <p:sp>
        <p:nvSpPr>
          <p:cNvPr id="6" name="Marcador de pie de página 5">
            <a:extLst>
              <a:ext uri="{FF2B5EF4-FFF2-40B4-BE49-F238E27FC236}">
                <a16:creationId xmlns:a16="http://schemas.microsoft.com/office/drawing/2014/main" id="{C0FE63C6-7488-0FBD-C4CA-0E615170C28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FA9A4CA-FF33-2179-21BB-B3DCE3236385}"/>
              </a:ext>
            </a:extLst>
          </p:cNvPr>
          <p:cNvSpPr>
            <a:spLocks noGrp="1"/>
          </p:cNvSpPr>
          <p:nvPr>
            <p:ph type="sldNum" sz="quarter" idx="12"/>
          </p:nvPr>
        </p:nvSpPr>
        <p:spPr/>
        <p:txBody>
          <a:bodyPr/>
          <a:lstStyle/>
          <a:p>
            <a:fld id="{DC7710BA-AFA1-4E45-AAB8-888B3429F9D5}" type="slidenum">
              <a:rPr lang="es-CO" smtClean="0"/>
              <a:t>‹Nº›</a:t>
            </a:fld>
            <a:endParaRPr lang="es-CO"/>
          </a:p>
        </p:txBody>
      </p:sp>
    </p:spTree>
    <p:extLst>
      <p:ext uri="{BB962C8B-B14F-4D97-AF65-F5344CB8AC3E}">
        <p14:creationId xmlns:p14="http://schemas.microsoft.com/office/powerpoint/2010/main" val="4032406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894BAD-FA07-C048-9C53-53C9435E732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307E7B03-0911-EB49-1519-2064117C09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22F3A17F-4519-FBA9-84ED-678DB17259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3696C2D-CBCE-93ED-C788-1CD6FABE73E6}"/>
              </a:ext>
            </a:extLst>
          </p:cNvPr>
          <p:cNvSpPr>
            <a:spLocks noGrp="1"/>
          </p:cNvSpPr>
          <p:nvPr>
            <p:ph type="dt" sz="half" idx="10"/>
          </p:nvPr>
        </p:nvSpPr>
        <p:spPr/>
        <p:txBody>
          <a:bodyPr/>
          <a:lstStyle/>
          <a:p>
            <a:fld id="{288EEFF7-0602-4BE2-B6FB-250721F668E2}" type="datetimeFigureOut">
              <a:rPr lang="es-CO" smtClean="0"/>
              <a:t>16/08/2026</a:t>
            </a:fld>
            <a:endParaRPr lang="es-CO"/>
          </a:p>
        </p:txBody>
      </p:sp>
      <p:sp>
        <p:nvSpPr>
          <p:cNvPr id="6" name="Marcador de pie de página 5">
            <a:extLst>
              <a:ext uri="{FF2B5EF4-FFF2-40B4-BE49-F238E27FC236}">
                <a16:creationId xmlns:a16="http://schemas.microsoft.com/office/drawing/2014/main" id="{E3F0066B-F1FF-A191-F383-714E161B9E7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E2C69B48-D36E-45E9-AD28-2EB383B80C14}"/>
              </a:ext>
            </a:extLst>
          </p:cNvPr>
          <p:cNvSpPr>
            <a:spLocks noGrp="1"/>
          </p:cNvSpPr>
          <p:nvPr>
            <p:ph type="sldNum" sz="quarter" idx="12"/>
          </p:nvPr>
        </p:nvSpPr>
        <p:spPr/>
        <p:txBody>
          <a:bodyPr/>
          <a:lstStyle/>
          <a:p>
            <a:fld id="{DC7710BA-AFA1-4E45-AAB8-888B3429F9D5}" type="slidenum">
              <a:rPr lang="es-CO" smtClean="0"/>
              <a:t>‹Nº›</a:t>
            </a:fld>
            <a:endParaRPr lang="es-CO"/>
          </a:p>
        </p:txBody>
      </p:sp>
    </p:spTree>
    <p:extLst>
      <p:ext uri="{BB962C8B-B14F-4D97-AF65-F5344CB8AC3E}">
        <p14:creationId xmlns:p14="http://schemas.microsoft.com/office/powerpoint/2010/main" val="3546488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03CC70-C6B4-6302-941D-B88C0E19D13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FDB0087A-2797-EE23-BA08-83A6000E9C78}"/>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F51D9BC-D70C-BFD6-B1A1-3D3EB2BE2CC6}"/>
              </a:ext>
            </a:extLst>
          </p:cNvPr>
          <p:cNvSpPr>
            <a:spLocks noGrp="1"/>
          </p:cNvSpPr>
          <p:nvPr>
            <p:ph type="dt" sz="half" idx="10"/>
          </p:nvPr>
        </p:nvSpPr>
        <p:spPr/>
        <p:txBody>
          <a:bodyPr/>
          <a:lstStyle/>
          <a:p>
            <a:fld id="{288EEFF7-0602-4BE2-B6FB-250721F668E2}" type="datetimeFigureOut">
              <a:rPr lang="es-CO" smtClean="0"/>
              <a:t>16/08/2026</a:t>
            </a:fld>
            <a:endParaRPr lang="es-CO"/>
          </a:p>
        </p:txBody>
      </p:sp>
      <p:sp>
        <p:nvSpPr>
          <p:cNvPr id="5" name="Marcador de pie de página 4">
            <a:extLst>
              <a:ext uri="{FF2B5EF4-FFF2-40B4-BE49-F238E27FC236}">
                <a16:creationId xmlns:a16="http://schemas.microsoft.com/office/drawing/2014/main" id="{1734EAEC-5E9E-B67D-EBD3-AB871C41E52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CAC7437-65B0-F2C8-E370-A855FD8C2DDC}"/>
              </a:ext>
            </a:extLst>
          </p:cNvPr>
          <p:cNvSpPr>
            <a:spLocks noGrp="1"/>
          </p:cNvSpPr>
          <p:nvPr>
            <p:ph type="sldNum" sz="quarter" idx="12"/>
          </p:nvPr>
        </p:nvSpPr>
        <p:spPr/>
        <p:txBody>
          <a:bodyPr/>
          <a:lstStyle/>
          <a:p>
            <a:fld id="{DC7710BA-AFA1-4E45-AAB8-888B3429F9D5}" type="slidenum">
              <a:rPr lang="es-CO" smtClean="0"/>
              <a:t>‹Nº›</a:t>
            </a:fld>
            <a:endParaRPr lang="es-CO"/>
          </a:p>
        </p:txBody>
      </p:sp>
    </p:spTree>
    <p:extLst>
      <p:ext uri="{BB962C8B-B14F-4D97-AF65-F5344CB8AC3E}">
        <p14:creationId xmlns:p14="http://schemas.microsoft.com/office/powerpoint/2010/main" val="3628191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88974A9-D250-DCF4-A4E0-B62467E67B4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4ACBFC59-8A8C-62FB-6F47-7F5E5B9AE05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C844503F-C42A-859F-FB02-F672D79AD861}"/>
              </a:ext>
            </a:extLst>
          </p:cNvPr>
          <p:cNvSpPr>
            <a:spLocks noGrp="1"/>
          </p:cNvSpPr>
          <p:nvPr>
            <p:ph type="dt" sz="half" idx="10"/>
          </p:nvPr>
        </p:nvSpPr>
        <p:spPr/>
        <p:txBody>
          <a:bodyPr/>
          <a:lstStyle/>
          <a:p>
            <a:fld id="{288EEFF7-0602-4BE2-B6FB-250721F668E2}" type="datetimeFigureOut">
              <a:rPr lang="es-CO" smtClean="0"/>
              <a:t>16/08/2026</a:t>
            </a:fld>
            <a:endParaRPr lang="es-CO"/>
          </a:p>
        </p:txBody>
      </p:sp>
      <p:sp>
        <p:nvSpPr>
          <p:cNvPr id="5" name="Marcador de pie de página 4">
            <a:extLst>
              <a:ext uri="{FF2B5EF4-FFF2-40B4-BE49-F238E27FC236}">
                <a16:creationId xmlns:a16="http://schemas.microsoft.com/office/drawing/2014/main" id="{B63BB7EC-E049-D65B-7992-40184AF9C73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2829860-DD8D-2C93-BDA2-CAE983D9C719}"/>
              </a:ext>
            </a:extLst>
          </p:cNvPr>
          <p:cNvSpPr>
            <a:spLocks noGrp="1"/>
          </p:cNvSpPr>
          <p:nvPr>
            <p:ph type="sldNum" sz="quarter" idx="12"/>
          </p:nvPr>
        </p:nvSpPr>
        <p:spPr/>
        <p:txBody>
          <a:bodyPr/>
          <a:lstStyle/>
          <a:p>
            <a:fld id="{DC7710BA-AFA1-4E45-AAB8-888B3429F9D5}" type="slidenum">
              <a:rPr lang="es-CO" smtClean="0"/>
              <a:t>‹Nº›</a:t>
            </a:fld>
            <a:endParaRPr lang="es-CO"/>
          </a:p>
        </p:txBody>
      </p:sp>
    </p:spTree>
    <p:extLst>
      <p:ext uri="{BB962C8B-B14F-4D97-AF65-F5344CB8AC3E}">
        <p14:creationId xmlns:p14="http://schemas.microsoft.com/office/powerpoint/2010/main" val="71877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D26334A-3D74-8974-D4CD-9C36E57526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E8E9F90-4125-B56A-2205-EA9C14FEE2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86B5EB9-3217-4643-F119-9196FDB4FC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EEFF7-0602-4BE2-B6FB-250721F668E2}" type="datetimeFigureOut">
              <a:rPr lang="es-CO" smtClean="0"/>
              <a:t>16/08/2026</a:t>
            </a:fld>
            <a:endParaRPr lang="es-CO"/>
          </a:p>
        </p:txBody>
      </p:sp>
      <p:sp>
        <p:nvSpPr>
          <p:cNvPr id="5" name="Marcador de pie de página 4">
            <a:extLst>
              <a:ext uri="{FF2B5EF4-FFF2-40B4-BE49-F238E27FC236}">
                <a16:creationId xmlns:a16="http://schemas.microsoft.com/office/drawing/2014/main" id="{3A7CE15E-DECC-B934-F87A-9B7419FAF4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E0EB821D-518F-F717-F365-DCD4DC021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7710BA-AFA1-4E45-AAB8-888B3429F9D5}" type="slidenum">
              <a:rPr lang="es-CO" smtClean="0"/>
              <a:t>‹Nº›</a:t>
            </a:fld>
            <a:endParaRPr lang="es-CO"/>
          </a:p>
        </p:txBody>
      </p:sp>
    </p:spTree>
    <p:extLst>
      <p:ext uri="{BB962C8B-B14F-4D97-AF65-F5344CB8AC3E}">
        <p14:creationId xmlns:p14="http://schemas.microsoft.com/office/powerpoint/2010/main" val="30473517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hyperlink" Target="mailto:sistemadegestionobrain@gmail.com"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hyperlink" Target="mailto:sistemadegestion@obrain.com"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hyperlink" Target="mailto:sistemadegestionobrain@gmail.com"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CA0507-43C7-4EBA-B947-72728C0DDA6E}"/>
              </a:ext>
            </a:extLst>
          </p:cNvPr>
          <p:cNvSpPr>
            <a:spLocks noGrp="1"/>
          </p:cNvSpPr>
          <p:nvPr>
            <p:ph type="ctrTitle"/>
          </p:nvPr>
        </p:nvSpPr>
        <p:spPr/>
        <p:txBody>
          <a:bodyPr/>
          <a:lstStyle/>
          <a:p>
            <a:r>
              <a:rPr lang="es-CO" dirty="0"/>
              <a:t>INDUCCIÓN EN SST</a:t>
            </a:r>
          </a:p>
        </p:txBody>
      </p:sp>
      <p:pic>
        <p:nvPicPr>
          <p:cNvPr id="4" name="Imagen 3">
            <a:extLst>
              <a:ext uri="{FF2B5EF4-FFF2-40B4-BE49-F238E27FC236}">
                <a16:creationId xmlns:a16="http://schemas.microsoft.com/office/drawing/2014/main" id="{98A907CD-2218-FAEF-D62E-7EE1000EAA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727" y="100065"/>
            <a:ext cx="1112273" cy="1112273"/>
          </a:xfrm>
          <a:prstGeom prst="rect">
            <a:avLst/>
          </a:prstGeom>
        </p:spPr>
      </p:pic>
    </p:spTree>
    <p:extLst>
      <p:ext uri="{BB962C8B-B14F-4D97-AF65-F5344CB8AC3E}">
        <p14:creationId xmlns:p14="http://schemas.microsoft.com/office/powerpoint/2010/main" val="18147381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a:extLst>
              <a:ext uri="{FF2B5EF4-FFF2-40B4-BE49-F238E27FC236}">
                <a16:creationId xmlns:a16="http://schemas.microsoft.com/office/drawing/2014/main" id="{284C6819-E4EA-B068-9638-4AC6F46E61A6}"/>
              </a:ext>
            </a:extLst>
          </p:cNvPr>
          <p:cNvPicPr>
            <a:picLocks noGrp="1" noChangeAspect="1"/>
          </p:cNvPicPr>
          <p:nvPr>
            <p:ph idx="1"/>
          </p:nvPr>
        </p:nvPicPr>
        <p:blipFill>
          <a:blip r:embed="rId2"/>
          <a:stretch>
            <a:fillRect/>
          </a:stretch>
        </p:blipFill>
        <p:spPr>
          <a:xfrm>
            <a:off x="2493848" y="1117702"/>
            <a:ext cx="7204303" cy="4351338"/>
          </a:xfrm>
          <a:prstGeom prst="rect">
            <a:avLst/>
          </a:prstGeom>
        </p:spPr>
      </p:pic>
      <p:pic>
        <p:nvPicPr>
          <p:cNvPr id="2" name="Imagen 1">
            <a:extLst>
              <a:ext uri="{FF2B5EF4-FFF2-40B4-BE49-F238E27FC236}">
                <a16:creationId xmlns:a16="http://schemas.microsoft.com/office/drawing/2014/main" id="{D2C0D560-0B9D-487B-DAC1-8BA1C85029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256" y="100065"/>
            <a:ext cx="1112273" cy="1112273"/>
          </a:xfrm>
          <a:prstGeom prst="rect">
            <a:avLst/>
          </a:prstGeom>
        </p:spPr>
      </p:pic>
    </p:spTree>
    <p:extLst>
      <p:ext uri="{BB962C8B-B14F-4D97-AF65-F5344CB8AC3E}">
        <p14:creationId xmlns:p14="http://schemas.microsoft.com/office/powerpoint/2010/main" val="1432774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EF91FF-BA3F-2F2E-2306-B4DA995937C4}"/>
              </a:ext>
            </a:extLst>
          </p:cNvPr>
          <p:cNvSpPr>
            <a:spLocks noGrp="1"/>
          </p:cNvSpPr>
          <p:nvPr>
            <p:ph type="title"/>
          </p:nvPr>
        </p:nvSpPr>
        <p:spPr/>
        <p:txBody>
          <a:bodyPr/>
          <a:lstStyle/>
          <a:p>
            <a:pPr algn="ctr"/>
            <a:r>
              <a:rPr lang="es-CO" dirty="0"/>
              <a:t>Definiciones</a:t>
            </a:r>
          </a:p>
        </p:txBody>
      </p:sp>
      <p:sp>
        <p:nvSpPr>
          <p:cNvPr id="4" name="CuadroTexto 3">
            <a:extLst>
              <a:ext uri="{FF2B5EF4-FFF2-40B4-BE49-F238E27FC236}">
                <a16:creationId xmlns:a16="http://schemas.microsoft.com/office/drawing/2014/main" id="{CBCFDAE4-23A8-538A-993E-27CCFF1FB660}"/>
              </a:ext>
            </a:extLst>
          </p:cNvPr>
          <p:cNvSpPr txBox="1"/>
          <p:nvPr/>
        </p:nvSpPr>
        <p:spPr>
          <a:xfrm>
            <a:off x="1251255" y="2048421"/>
            <a:ext cx="9890449" cy="1938992"/>
          </a:xfrm>
          <a:prstGeom prst="rect">
            <a:avLst/>
          </a:prstGeom>
          <a:noFill/>
        </p:spPr>
        <p:txBody>
          <a:bodyPr wrap="square" rtlCol="0">
            <a:spAutoFit/>
          </a:bodyPr>
          <a:lstStyle/>
          <a:p>
            <a:pPr algn="just"/>
            <a:r>
              <a:rPr lang="es-ES" sz="2000" b="1" i="0" dirty="0">
                <a:solidFill>
                  <a:srgbClr val="464646"/>
                </a:solidFill>
                <a:effectLst/>
                <a:latin typeface="Gill Sans MT" panose="020B0502020104020203" pitchFamily="34" charset="0"/>
              </a:rPr>
              <a:t>Seguridad y salud en el trabajo (SST). </a:t>
            </a:r>
            <a:r>
              <a:rPr lang="es-ES" sz="2000" b="0" i="0" dirty="0">
                <a:solidFill>
                  <a:srgbClr val="464646"/>
                </a:solidFill>
                <a:effectLst/>
                <a:latin typeface="Gill Sans MT" panose="020B0502020104020203" pitchFamily="34" charset="0"/>
              </a:rPr>
              <a:t>La Seguridad y Salud en el Trabajo (SST) es la disciplina que trata de la prevención de las lesiones y enfermedades causadas por las condiciones de trabajo, y de la protección y promoción de la salud de los trabajadores. Tiene por objeto mejorar las condiciones y el medio ambiente de trabajo, así como la salud en el trabajo, que conlleva la promoción y el mantenimiento del bienestar físico, mental y social de los trabajadores en todas las ocupaciones.</a:t>
            </a:r>
          </a:p>
        </p:txBody>
      </p:sp>
      <p:pic>
        <p:nvPicPr>
          <p:cNvPr id="3" name="Imagen 2">
            <a:extLst>
              <a:ext uri="{FF2B5EF4-FFF2-40B4-BE49-F238E27FC236}">
                <a16:creationId xmlns:a16="http://schemas.microsoft.com/office/drawing/2014/main" id="{E0757062-B5D1-9631-922C-2A1F959C2A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982" y="126943"/>
            <a:ext cx="1112273" cy="1128967"/>
          </a:xfrm>
          <a:prstGeom prst="rect">
            <a:avLst/>
          </a:prstGeom>
        </p:spPr>
      </p:pic>
    </p:spTree>
    <p:extLst>
      <p:ext uri="{BB962C8B-B14F-4D97-AF65-F5344CB8AC3E}">
        <p14:creationId xmlns:p14="http://schemas.microsoft.com/office/powerpoint/2010/main" val="81079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E2DEF-A1F3-03F7-47FE-D72D76D6E0C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CDAF070-E17B-A7E1-59B7-58468DA3D92C}"/>
              </a:ext>
            </a:extLst>
          </p:cNvPr>
          <p:cNvSpPr>
            <a:spLocks noGrp="1"/>
          </p:cNvSpPr>
          <p:nvPr>
            <p:ph type="title"/>
          </p:nvPr>
        </p:nvSpPr>
        <p:spPr/>
        <p:txBody>
          <a:bodyPr/>
          <a:lstStyle/>
          <a:p>
            <a:pPr algn="ctr"/>
            <a:r>
              <a:rPr lang="es-CO" dirty="0"/>
              <a:t>Definiciones</a:t>
            </a:r>
          </a:p>
        </p:txBody>
      </p:sp>
      <p:sp>
        <p:nvSpPr>
          <p:cNvPr id="4" name="CuadroTexto 3">
            <a:extLst>
              <a:ext uri="{FF2B5EF4-FFF2-40B4-BE49-F238E27FC236}">
                <a16:creationId xmlns:a16="http://schemas.microsoft.com/office/drawing/2014/main" id="{A7DF6D80-7701-5288-A881-394957694903}"/>
              </a:ext>
            </a:extLst>
          </p:cNvPr>
          <p:cNvSpPr txBox="1"/>
          <p:nvPr/>
        </p:nvSpPr>
        <p:spPr>
          <a:xfrm>
            <a:off x="1251255" y="2048421"/>
            <a:ext cx="9890449" cy="2246769"/>
          </a:xfrm>
          <a:prstGeom prst="rect">
            <a:avLst/>
          </a:prstGeom>
          <a:noFill/>
        </p:spPr>
        <p:txBody>
          <a:bodyPr wrap="square" rtlCol="0">
            <a:spAutoFit/>
          </a:bodyPr>
          <a:lstStyle/>
          <a:p>
            <a:pPr algn="just"/>
            <a:r>
              <a:rPr lang="es-ES" sz="2000" b="1" i="0" dirty="0">
                <a:solidFill>
                  <a:srgbClr val="464646"/>
                </a:solidFill>
                <a:effectLst/>
                <a:latin typeface="Gill Sans MT" panose="020B0502020104020203" pitchFamily="34" charset="0"/>
              </a:rPr>
              <a:t>Sistema de gestión de la seguridad y salud en el trabajo (SG-SST). </a:t>
            </a:r>
          </a:p>
          <a:p>
            <a:pPr algn="just"/>
            <a:endParaRPr lang="es-ES" sz="2000" dirty="0">
              <a:solidFill>
                <a:srgbClr val="464646"/>
              </a:solidFill>
              <a:latin typeface="Gill Sans MT" panose="020B0502020104020203" pitchFamily="34" charset="0"/>
            </a:endParaRPr>
          </a:p>
          <a:p>
            <a:pPr algn="just"/>
            <a:r>
              <a:rPr lang="es-ES" sz="2000" i="0" dirty="0">
                <a:solidFill>
                  <a:srgbClr val="464646"/>
                </a:solidFill>
                <a:effectLst/>
                <a:latin typeface="Gill Sans MT" panose="020B0502020104020203" pitchFamily="34" charset="0"/>
              </a:rPr>
              <a:t>El Sistema de Gestión de la Seguridad y Salud en el Trabajo (SG-SST) consiste en el desarrollo de un proceso lógico y por etapas, basado en la mejora continua y que incluye la política, la organización, la planificación, la aplicación, la evaluación, la auditoría y las acciones de mejora con el objetivo de anticipar, reconocer, evaluar y controlar los riesgos que puedan afectar la seguridad y la salud en el trabajo.</a:t>
            </a:r>
          </a:p>
        </p:txBody>
      </p:sp>
      <p:pic>
        <p:nvPicPr>
          <p:cNvPr id="3" name="Imagen 2">
            <a:extLst>
              <a:ext uri="{FF2B5EF4-FFF2-40B4-BE49-F238E27FC236}">
                <a16:creationId xmlns:a16="http://schemas.microsoft.com/office/drawing/2014/main" id="{DF6B39ED-9213-2EDE-D364-B76E42C9D5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982" y="126943"/>
            <a:ext cx="1112273" cy="1128967"/>
          </a:xfrm>
          <a:prstGeom prst="rect">
            <a:avLst/>
          </a:prstGeom>
        </p:spPr>
      </p:pic>
    </p:spTree>
    <p:extLst>
      <p:ext uri="{BB962C8B-B14F-4D97-AF65-F5344CB8AC3E}">
        <p14:creationId xmlns:p14="http://schemas.microsoft.com/office/powerpoint/2010/main" val="530955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C9A43-0CF6-7A46-D1F7-7A847E7DB99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018E43E-6AAB-F69F-5B76-559BE47F06D2}"/>
              </a:ext>
            </a:extLst>
          </p:cNvPr>
          <p:cNvSpPr>
            <a:spLocks noGrp="1"/>
          </p:cNvSpPr>
          <p:nvPr>
            <p:ph type="title"/>
          </p:nvPr>
        </p:nvSpPr>
        <p:spPr/>
        <p:txBody>
          <a:bodyPr/>
          <a:lstStyle/>
          <a:p>
            <a:pPr algn="ctr"/>
            <a:r>
              <a:rPr lang="es-CO" dirty="0"/>
              <a:t>Definiciones</a:t>
            </a:r>
          </a:p>
        </p:txBody>
      </p:sp>
      <p:sp>
        <p:nvSpPr>
          <p:cNvPr id="4" name="CuadroTexto 3">
            <a:extLst>
              <a:ext uri="{FF2B5EF4-FFF2-40B4-BE49-F238E27FC236}">
                <a16:creationId xmlns:a16="http://schemas.microsoft.com/office/drawing/2014/main" id="{1198F028-8E13-F6E4-ECB6-B21B0E56F09E}"/>
              </a:ext>
            </a:extLst>
          </p:cNvPr>
          <p:cNvSpPr txBox="1"/>
          <p:nvPr/>
        </p:nvSpPr>
        <p:spPr>
          <a:xfrm>
            <a:off x="1278294" y="1950099"/>
            <a:ext cx="9890449" cy="3785652"/>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Ley 1562 de 2012 Art. 3</a:t>
            </a:r>
          </a:p>
          <a:p>
            <a:pPr algn="just"/>
            <a:endParaRPr lang="es-ES" sz="2000" b="0" i="0" dirty="0">
              <a:solidFill>
                <a:srgbClr val="464646"/>
              </a:solidFill>
              <a:effectLst/>
              <a:latin typeface="Gill Sans MT" panose="020B0502020104020203" pitchFamily="34" charset="0"/>
            </a:endParaRPr>
          </a:p>
          <a:p>
            <a:pPr algn="just"/>
            <a:r>
              <a:rPr lang="es-ES" sz="2000" b="1" dirty="0">
                <a:solidFill>
                  <a:srgbClr val="464646"/>
                </a:solidFill>
                <a:latin typeface="Gill Sans MT" panose="020B0502020104020203" pitchFamily="34" charset="0"/>
              </a:rPr>
              <a:t>Accidente de trabajo:</a:t>
            </a:r>
          </a:p>
          <a:p>
            <a:pPr algn="just"/>
            <a:endParaRPr lang="es-ES" sz="2000" b="1"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Es accidente de trabajo todo suceso repentino que sobrevenga por causa o con ocasión del trabajo, y que produzca en el trabajador una lesión orgánica, una perturbación funcional o psiquiátrica, una invalidez o la muerte.</a:t>
            </a:r>
          </a:p>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Es también accidente de trabajo aquel que se produce durante la ejecución de órdenes del empleador, o contratante durante la ejecución de una labor bajo su autoridad, aún fuera del lugar y horas de trabajo.</a:t>
            </a:r>
          </a:p>
          <a:p>
            <a:pPr algn="just"/>
            <a:endParaRPr lang="es-ES" sz="2000" b="0" i="0" dirty="0">
              <a:solidFill>
                <a:srgbClr val="464646"/>
              </a:solidFill>
              <a:effectLst/>
              <a:latin typeface="Gill Sans MT" panose="020B0502020104020203" pitchFamily="34" charset="0"/>
            </a:endParaRPr>
          </a:p>
        </p:txBody>
      </p:sp>
      <p:pic>
        <p:nvPicPr>
          <p:cNvPr id="3" name="Imagen 2">
            <a:extLst>
              <a:ext uri="{FF2B5EF4-FFF2-40B4-BE49-F238E27FC236}">
                <a16:creationId xmlns:a16="http://schemas.microsoft.com/office/drawing/2014/main" id="{821DD13D-ED15-54CC-94AC-A806BF70C1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982" y="126943"/>
            <a:ext cx="1112273" cy="1128967"/>
          </a:xfrm>
          <a:prstGeom prst="rect">
            <a:avLst/>
          </a:prstGeom>
        </p:spPr>
      </p:pic>
    </p:spTree>
    <p:extLst>
      <p:ext uri="{BB962C8B-B14F-4D97-AF65-F5344CB8AC3E}">
        <p14:creationId xmlns:p14="http://schemas.microsoft.com/office/powerpoint/2010/main" val="3879352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77BA9-04DA-B213-B058-9BCD9967980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916E209-00D9-201D-3606-462770C8CB71}"/>
              </a:ext>
            </a:extLst>
          </p:cNvPr>
          <p:cNvSpPr>
            <a:spLocks noGrp="1"/>
          </p:cNvSpPr>
          <p:nvPr>
            <p:ph type="title"/>
          </p:nvPr>
        </p:nvSpPr>
        <p:spPr/>
        <p:txBody>
          <a:bodyPr/>
          <a:lstStyle/>
          <a:p>
            <a:pPr algn="ctr"/>
            <a:r>
              <a:rPr lang="es-CO" dirty="0"/>
              <a:t>Definiciones</a:t>
            </a:r>
          </a:p>
        </p:txBody>
      </p:sp>
      <p:sp>
        <p:nvSpPr>
          <p:cNvPr id="5" name="CuadroTexto 4">
            <a:extLst>
              <a:ext uri="{FF2B5EF4-FFF2-40B4-BE49-F238E27FC236}">
                <a16:creationId xmlns:a16="http://schemas.microsoft.com/office/drawing/2014/main" id="{B3BA3EAA-1638-340F-456F-BD230776CDCE}"/>
              </a:ext>
            </a:extLst>
          </p:cNvPr>
          <p:cNvSpPr txBox="1"/>
          <p:nvPr/>
        </p:nvSpPr>
        <p:spPr>
          <a:xfrm>
            <a:off x="1278294" y="1950099"/>
            <a:ext cx="9890449" cy="3785652"/>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Igualmente se considera accidente de trabajo el que se produzca durante el traslado de los trabajadores o contratistas desde su residencia a los lugares de trabajo o viceversa, cuando el transporte lo suministre el empleador.</a:t>
            </a:r>
          </a:p>
          <a:p>
            <a:pPr algn="just"/>
            <a:endParaRPr lang="es-ES" sz="2000" b="1" dirty="0">
              <a:solidFill>
                <a:srgbClr val="464646"/>
              </a:solidFill>
              <a:latin typeface="Gill Sans MT" panose="020B0502020104020203" pitchFamily="34" charset="0"/>
            </a:endParaRPr>
          </a:p>
          <a:p>
            <a:pPr algn="just"/>
            <a:r>
              <a:rPr lang="es-ES" sz="2000" dirty="0">
                <a:solidFill>
                  <a:srgbClr val="464646"/>
                </a:solidFill>
                <a:latin typeface="Gill Sans MT" panose="020B0502020104020203" pitchFamily="34" charset="0"/>
              </a:rPr>
              <a:t>También se considerará como accidente de trabajo el ocurrido durante el ejercicio de la función sindical, aunque el trabajador se encuentre en permiso sindical siempre que el accidente se produzca en cumplimiento de dicha función.</a:t>
            </a:r>
          </a:p>
          <a:p>
            <a:pPr algn="just"/>
            <a:endParaRPr lang="es-ES" sz="2000" dirty="0">
              <a:solidFill>
                <a:srgbClr val="464646"/>
              </a:solidFill>
              <a:latin typeface="Gill Sans MT" panose="020B0502020104020203" pitchFamily="34" charset="0"/>
            </a:endParaRPr>
          </a:p>
          <a:p>
            <a:pPr algn="just"/>
            <a:r>
              <a:rPr lang="es-ES" sz="2000" dirty="0">
                <a:solidFill>
                  <a:srgbClr val="464646"/>
                </a:solidFill>
                <a:latin typeface="Gill Sans MT" panose="020B0502020104020203" pitchFamily="34" charset="0"/>
              </a:rPr>
              <a:t>De igual forma se considera accidente de trabajo el que se produzca por la ejecución de actividades recreativas, deportivas o culturales, cuando se actúe por cuenta o en representación del empleador o de la empresa usuaria cuando se trate de trabajadores de empresas de servicios temporales que se encuentren en misión.</a:t>
            </a:r>
          </a:p>
        </p:txBody>
      </p:sp>
      <p:pic>
        <p:nvPicPr>
          <p:cNvPr id="3" name="Imagen 2">
            <a:extLst>
              <a:ext uri="{FF2B5EF4-FFF2-40B4-BE49-F238E27FC236}">
                <a16:creationId xmlns:a16="http://schemas.microsoft.com/office/drawing/2014/main" id="{ECFF22C4-80F8-F32F-E511-54ABB748D6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063" y="151984"/>
            <a:ext cx="1112273" cy="1112273"/>
          </a:xfrm>
          <a:prstGeom prst="rect">
            <a:avLst/>
          </a:prstGeom>
        </p:spPr>
      </p:pic>
    </p:spTree>
    <p:extLst>
      <p:ext uri="{BB962C8B-B14F-4D97-AF65-F5344CB8AC3E}">
        <p14:creationId xmlns:p14="http://schemas.microsoft.com/office/powerpoint/2010/main" val="3217828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BC711-D08F-88BC-769B-99DC66B6A60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14D30A0-7C13-9962-89E4-394F6817570C}"/>
              </a:ext>
            </a:extLst>
          </p:cNvPr>
          <p:cNvSpPr>
            <a:spLocks noGrp="1"/>
          </p:cNvSpPr>
          <p:nvPr>
            <p:ph type="title"/>
          </p:nvPr>
        </p:nvSpPr>
        <p:spPr/>
        <p:txBody>
          <a:bodyPr/>
          <a:lstStyle/>
          <a:p>
            <a:pPr algn="ctr"/>
            <a:r>
              <a:rPr lang="es-CO" dirty="0"/>
              <a:t>Reporte de accidente de trabajo</a:t>
            </a:r>
          </a:p>
        </p:txBody>
      </p:sp>
      <p:sp>
        <p:nvSpPr>
          <p:cNvPr id="5" name="CuadroTexto 4">
            <a:extLst>
              <a:ext uri="{FF2B5EF4-FFF2-40B4-BE49-F238E27FC236}">
                <a16:creationId xmlns:a16="http://schemas.microsoft.com/office/drawing/2014/main" id="{CA53084E-BA11-A68C-2CD7-0BFB141A6A33}"/>
              </a:ext>
            </a:extLst>
          </p:cNvPr>
          <p:cNvSpPr txBox="1"/>
          <p:nvPr/>
        </p:nvSpPr>
        <p:spPr>
          <a:xfrm>
            <a:off x="1278294" y="1950099"/>
            <a:ext cx="9890449" cy="1015663"/>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Todo accidente laboral deberá reportarse a Línea de atención ARL COLMENA</a:t>
            </a:r>
          </a:p>
          <a:p>
            <a:pPr algn="just"/>
            <a:endParaRPr lang="es-ES" sz="2000" dirty="0">
              <a:solidFill>
                <a:srgbClr val="464646"/>
              </a:solidFill>
              <a:latin typeface="Gill Sans MT" panose="020B0502020104020203" pitchFamily="34" charset="0"/>
            </a:endParaRPr>
          </a:p>
          <a:p>
            <a:pPr algn="just"/>
            <a:endParaRPr lang="es-ES" sz="2000" b="0" i="0" dirty="0">
              <a:solidFill>
                <a:srgbClr val="464646"/>
              </a:solidFill>
              <a:effectLst/>
              <a:latin typeface="Gill Sans MT" panose="020B0502020104020203" pitchFamily="34" charset="0"/>
            </a:endParaRPr>
          </a:p>
        </p:txBody>
      </p:sp>
      <p:pic>
        <p:nvPicPr>
          <p:cNvPr id="6" name="Imagen 5">
            <a:extLst>
              <a:ext uri="{FF2B5EF4-FFF2-40B4-BE49-F238E27FC236}">
                <a16:creationId xmlns:a16="http://schemas.microsoft.com/office/drawing/2014/main" id="{C7ED4BA1-F0CF-5C9A-C6CF-50F0AD216C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021" y="151984"/>
            <a:ext cx="1112273" cy="1112273"/>
          </a:xfrm>
          <a:prstGeom prst="rect">
            <a:avLst/>
          </a:prstGeom>
        </p:spPr>
      </p:pic>
      <p:pic>
        <p:nvPicPr>
          <p:cNvPr id="7" name="Imagen 6">
            <a:extLst>
              <a:ext uri="{FF2B5EF4-FFF2-40B4-BE49-F238E27FC236}">
                <a16:creationId xmlns:a16="http://schemas.microsoft.com/office/drawing/2014/main" id="{F9101AB0-709A-0F26-5BEC-01E73029EBD2}"/>
              </a:ext>
            </a:extLst>
          </p:cNvPr>
          <p:cNvPicPr>
            <a:picLocks noChangeAspect="1"/>
          </p:cNvPicPr>
          <p:nvPr/>
        </p:nvPicPr>
        <p:blipFill>
          <a:blip r:embed="rId3"/>
          <a:stretch>
            <a:fillRect/>
          </a:stretch>
        </p:blipFill>
        <p:spPr>
          <a:xfrm>
            <a:off x="2473242" y="3271876"/>
            <a:ext cx="7068536" cy="1800476"/>
          </a:xfrm>
          <a:prstGeom prst="rect">
            <a:avLst/>
          </a:prstGeom>
        </p:spPr>
      </p:pic>
    </p:spTree>
    <p:extLst>
      <p:ext uri="{BB962C8B-B14F-4D97-AF65-F5344CB8AC3E}">
        <p14:creationId xmlns:p14="http://schemas.microsoft.com/office/powerpoint/2010/main" val="3964692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C5E73-BD10-5017-6FAB-BAD4C5F2725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B3799FD-4362-C385-A07B-6732F8A53B40}"/>
              </a:ext>
            </a:extLst>
          </p:cNvPr>
          <p:cNvSpPr>
            <a:spLocks noGrp="1"/>
          </p:cNvSpPr>
          <p:nvPr>
            <p:ph type="title"/>
          </p:nvPr>
        </p:nvSpPr>
        <p:spPr/>
        <p:txBody>
          <a:bodyPr/>
          <a:lstStyle/>
          <a:p>
            <a:pPr algn="ctr"/>
            <a:r>
              <a:rPr lang="es-CO" dirty="0"/>
              <a:t>Reporte de accidente de trabajo</a:t>
            </a:r>
          </a:p>
        </p:txBody>
      </p:sp>
      <p:sp>
        <p:nvSpPr>
          <p:cNvPr id="5" name="CuadroTexto 4">
            <a:extLst>
              <a:ext uri="{FF2B5EF4-FFF2-40B4-BE49-F238E27FC236}">
                <a16:creationId xmlns:a16="http://schemas.microsoft.com/office/drawing/2014/main" id="{36A01627-0194-E29F-2FFA-4C272F1A23B5}"/>
              </a:ext>
            </a:extLst>
          </p:cNvPr>
          <p:cNvSpPr txBox="1"/>
          <p:nvPr/>
        </p:nvSpPr>
        <p:spPr>
          <a:xfrm>
            <a:off x="1278294" y="1950099"/>
            <a:ext cx="9890449" cy="2862322"/>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El trabajador debe suministrar la siguiente información:</a:t>
            </a:r>
          </a:p>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Datos de trabajador: Tipo de identificación, número de identificación, dirección, teléfono y correo.</a:t>
            </a:r>
          </a:p>
          <a:p>
            <a:pPr algn="just"/>
            <a:r>
              <a:rPr lang="es-ES" sz="2000" b="0" i="0" dirty="0">
                <a:solidFill>
                  <a:srgbClr val="464646"/>
                </a:solidFill>
                <a:effectLst/>
                <a:latin typeface="Gill Sans MT" panose="020B0502020104020203" pitchFamily="34" charset="0"/>
              </a:rPr>
              <a:t>Datos de la empresa donde ocurrió el accidente: NIT, Nombre o razón social, Dirección, Teléfono y correo</a:t>
            </a:r>
          </a:p>
          <a:p>
            <a:pPr algn="just"/>
            <a:r>
              <a:rPr lang="es-ES" sz="2000" b="0" i="0" dirty="0">
                <a:solidFill>
                  <a:srgbClr val="464646"/>
                </a:solidFill>
                <a:effectLst/>
                <a:latin typeface="Gill Sans MT" panose="020B0502020104020203" pitchFamily="34" charset="0"/>
              </a:rPr>
              <a:t>Datos del accidente: Actividad que estaba desempeñando, Tipo de lesión Ejemplo: Quemadura, golpe, contusión, herida. Parte del cuerpo afectada Ejemplo: Izquierda, derecha, superior, inferior, central. Cargo del trabajador Fecha y hora del accidente</a:t>
            </a:r>
          </a:p>
        </p:txBody>
      </p:sp>
      <p:pic>
        <p:nvPicPr>
          <p:cNvPr id="3" name="Imagen 2">
            <a:extLst>
              <a:ext uri="{FF2B5EF4-FFF2-40B4-BE49-F238E27FC236}">
                <a16:creationId xmlns:a16="http://schemas.microsoft.com/office/drawing/2014/main" id="{B0DE7826-8D2E-5F12-3083-A3F3D5F352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063" y="151984"/>
            <a:ext cx="1112273" cy="1112273"/>
          </a:xfrm>
          <a:prstGeom prst="rect">
            <a:avLst/>
          </a:prstGeom>
        </p:spPr>
      </p:pic>
    </p:spTree>
    <p:extLst>
      <p:ext uri="{BB962C8B-B14F-4D97-AF65-F5344CB8AC3E}">
        <p14:creationId xmlns:p14="http://schemas.microsoft.com/office/powerpoint/2010/main" val="1131369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87541-0C21-DE7E-61DF-8FEFF911A84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3A0A1F4-E9B2-1EAA-0A15-31A0C3199034}"/>
              </a:ext>
            </a:extLst>
          </p:cNvPr>
          <p:cNvSpPr>
            <a:spLocks noGrp="1"/>
          </p:cNvSpPr>
          <p:nvPr>
            <p:ph type="title"/>
          </p:nvPr>
        </p:nvSpPr>
        <p:spPr/>
        <p:txBody>
          <a:bodyPr/>
          <a:lstStyle/>
          <a:p>
            <a:pPr algn="ctr"/>
            <a:r>
              <a:rPr lang="es-CO" dirty="0"/>
              <a:t>Reporte de accidente de trabajo</a:t>
            </a:r>
          </a:p>
        </p:txBody>
      </p:sp>
      <p:sp>
        <p:nvSpPr>
          <p:cNvPr id="5" name="CuadroTexto 4">
            <a:extLst>
              <a:ext uri="{FF2B5EF4-FFF2-40B4-BE49-F238E27FC236}">
                <a16:creationId xmlns:a16="http://schemas.microsoft.com/office/drawing/2014/main" id="{681CC68F-0BAA-C809-068D-B1E62F0922B8}"/>
              </a:ext>
            </a:extLst>
          </p:cNvPr>
          <p:cNvSpPr txBox="1"/>
          <p:nvPr/>
        </p:nvSpPr>
        <p:spPr>
          <a:xfrm>
            <a:off x="1278294" y="1950099"/>
            <a:ext cx="9890449" cy="2862322"/>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El trabajador debe informar a la profesional de seguridad y salud en el trabajo para garantizar que todo reporte de accidente de trabajo deberá realizarse máximo dentro de los dos (2) días hábiles siguientes a la ocurrencia del accidente tanto a la ARL como a la EPS.</a:t>
            </a:r>
          </a:p>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Todo accidente grave o mortal deberá además reportarse a la Dirección Territorial u Oficinas Especiales correspondientes, dentro de los dos (2) días hábiles siguientes al evento.</a:t>
            </a:r>
          </a:p>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Los incidentes deben reportarse de manera interna máximo a los dos (2) días hábiles siguientes al suceso.</a:t>
            </a:r>
          </a:p>
        </p:txBody>
      </p:sp>
      <p:pic>
        <p:nvPicPr>
          <p:cNvPr id="3" name="Imagen 2">
            <a:extLst>
              <a:ext uri="{FF2B5EF4-FFF2-40B4-BE49-F238E27FC236}">
                <a16:creationId xmlns:a16="http://schemas.microsoft.com/office/drawing/2014/main" id="{13C9C3C2-C043-E6E7-4C9C-D7363F0DEA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063" y="105714"/>
            <a:ext cx="1112273" cy="1119135"/>
          </a:xfrm>
          <a:prstGeom prst="rect">
            <a:avLst/>
          </a:prstGeom>
        </p:spPr>
      </p:pic>
    </p:spTree>
    <p:extLst>
      <p:ext uri="{BB962C8B-B14F-4D97-AF65-F5344CB8AC3E}">
        <p14:creationId xmlns:p14="http://schemas.microsoft.com/office/powerpoint/2010/main" val="3576515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B9BD4-5F01-199D-0BEB-356104512B1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E30A961-6D89-4EAC-F988-FF35BE795520}"/>
              </a:ext>
            </a:extLst>
          </p:cNvPr>
          <p:cNvSpPr>
            <a:spLocks noGrp="1"/>
          </p:cNvSpPr>
          <p:nvPr>
            <p:ph type="title"/>
          </p:nvPr>
        </p:nvSpPr>
        <p:spPr/>
        <p:txBody>
          <a:bodyPr/>
          <a:lstStyle/>
          <a:p>
            <a:pPr algn="ctr"/>
            <a:r>
              <a:rPr lang="es-CO" dirty="0"/>
              <a:t>Definiciones</a:t>
            </a:r>
          </a:p>
        </p:txBody>
      </p:sp>
      <p:sp>
        <p:nvSpPr>
          <p:cNvPr id="5" name="CuadroTexto 4">
            <a:extLst>
              <a:ext uri="{FF2B5EF4-FFF2-40B4-BE49-F238E27FC236}">
                <a16:creationId xmlns:a16="http://schemas.microsoft.com/office/drawing/2014/main" id="{9319B056-D113-C728-645E-36D4055A3D94}"/>
              </a:ext>
            </a:extLst>
          </p:cNvPr>
          <p:cNvSpPr txBox="1"/>
          <p:nvPr/>
        </p:nvSpPr>
        <p:spPr>
          <a:xfrm>
            <a:off x="1278294" y="1950099"/>
            <a:ext cx="9890449" cy="3170099"/>
          </a:xfrm>
          <a:prstGeom prst="rect">
            <a:avLst/>
          </a:prstGeom>
          <a:noFill/>
        </p:spPr>
        <p:txBody>
          <a:bodyPr wrap="square" rtlCol="0">
            <a:spAutoFit/>
          </a:bodyPr>
          <a:lstStyle/>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Ley 1562 de 2012 Art. 4</a:t>
            </a:r>
          </a:p>
          <a:p>
            <a:pPr algn="just"/>
            <a:endParaRPr lang="es-ES" sz="2000" dirty="0">
              <a:solidFill>
                <a:srgbClr val="464646"/>
              </a:solidFill>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Enfermedad laboral. Es enfermedad laboral la contraída como resultado de la exposición a factores de riesgo inherentes a la actividad laboral o del medio en el que el trabajador se ha visto obligado a trabajar. El Gobierno Nacional, determinará, en forma periódica, las enfermedades que se consideran como laborales y en los casos en que una enfermedad no figure en la tabla de enfermedades laborales, pero se demuestre la relación de causalidad con los factores de riesgo ocupacional será reconocida como enfermedad laboral, conforme a lo establecido en las normas legales vigentes.</a:t>
            </a:r>
          </a:p>
        </p:txBody>
      </p:sp>
      <p:pic>
        <p:nvPicPr>
          <p:cNvPr id="3" name="Imagen 2">
            <a:extLst>
              <a:ext uri="{FF2B5EF4-FFF2-40B4-BE49-F238E27FC236}">
                <a16:creationId xmlns:a16="http://schemas.microsoft.com/office/drawing/2014/main" id="{932F3020-3E97-4892-6A32-A69F1800BF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063" y="105714"/>
            <a:ext cx="1112273" cy="1119135"/>
          </a:xfrm>
          <a:prstGeom prst="rect">
            <a:avLst/>
          </a:prstGeom>
        </p:spPr>
      </p:pic>
    </p:spTree>
    <p:extLst>
      <p:ext uri="{BB962C8B-B14F-4D97-AF65-F5344CB8AC3E}">
        <p14:creationId xmlns:p14="http://schemas.microsoft.com/office/powerpoint/2010/main" val="2093587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2F1BD-0932-708F-2FC4-DCF42A82C52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720016E-3AC4-3F6D-9A3F-FAC7A6D20894}"/>
              </a:ext>
            </a:extLst>
          </p:cNvPr>
          <p:cNvSpPr>
            <a:spLocks noGrp="1"/>
          </p:cNvSpPr>
          <p:nvPr>
            <p:ph type="title"/>
          </p:nvPr>
        </p:nvSpPr>
        <p:spPr/>
        <p:txBody>
          <a:bodyPr/>
          <a:lstStyle/>
          <a:p>
            <a:pPr algn="ctr"/>
            <a:r>
              <a:rPr lang="es-CO" dirty="0"/>
              <a:t>Definiciones</a:t>
            </a:r>
          </a:p>
        </p:txBody>
      </p:sp>
      <p:sp>
        <p:nvSpPr>
          <p:cNvPr id="3" name="CuadroTexto 2">
            <a:extLst>
              <a:ext uri="{FF2B5EF4-FFF2-40B4-BE49-F238E27FC236}">
                <a16:creationId xmlns:a16="http://schemas.microsoft.com/office/drawing/2014/main" id="{D1E2F8B1-8526-EF62-5757-B2D22C8AC84F}"/>
              </a:ext>
            </a:extLst>
          </p:cNvPr>
          <p:cNvSpPr txBox="1"/>
          <p:nvPr/>
        </p:nvSpPr>
        <p:spPr>
          <a:xfrm>
            <a:off x="1278294" y="1950099"/>
            <a:ext cx="9890449" cy="3477875"/>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INCIDENTE:</a:t>
            </a:r>
          </a:p>
          <a:p>
            <a:pPr algn="just"/>
            <a:endParaRPr lang="es-ES" sz="2000" dirty="0">
              <a:solidFill>
                <a:srgbClr val="464646"/>
              </a:solidFill>
              <a:latin typeface="Gill Sans MT" panose="020B0502020104020203" pitchFamily="34" charset="0"/>
            </a:endParaRPr>
          </a:p>
          <a:p>
            <a:pPr algn="just"/>
            <a:r>
              <a:rPr lang="es-ES" sz="2000" dirty="0">
                <a:solidFill>
                  <a:srgbClr val="464646"/>
                </a:solidFill>
                <a:latin typeface="Gill Sans MT" panose="020B0502020104020203" pitchFamily="34" charset="0"/>
              </a:rPr>
              <a:t>Es un suceso repentino no deseado que ocurre por las mismas causas que se presentan los accidentes, sólo que por cuestiones del azar no desencadena lesiones en las personas, daños a la propiedad, al proceso o al ambiente. Un incidente es una alerta que es necesario atender.  Es la oportunidad para identificar y controlar las causas básicas que lo generaron, antes de que ocurra un accidente.</a:t>
            </a:r>
          </a:p>
          <a:p>
            <a:pPr algn="just"/>
            <a:endParaRPr lang="es-ES" sz="2000" dirty="0">
              <a:solidFill>
                <a:srgbClr val="464646"/>
              </a:solidFill>
              <a:latin typeface="Gill Sans MT" panose="020B0502020104020203" pitchFamily="34" charset="0"/>
            </a:endParaRPr>
          </a:p>
          <a:p>
            <a:pPr algn="just"/>
            <a:r>
              <a:rPr lang="es-ES" sz="2000" dirty="0">
                <a:solidFill>
                  <a:srgbClr val="464646"/>
                </a:solidFill>
                <a:latin typeface="Gill Sans MT" panose="020B0502020104020203" pitchFamily="34" charset="0"/>
              </a:rPr>
              <a:t>La verdadera prevención se logra investigando los INCIDENTES y adoptando las recomendaciones que se generan de la investigación, ya que siempre que ocurre un accidente, han ocurrido previamente varios incidentes que alertaron sobre la situación de riesgo.</a:t>
            </a:r>
          </a:p>
        </p:txBody>
      </p:sp>
      <p:pic>
        <p:nvPicPr>
          <p:cNvPr id="4" name="Imagen 3">
            <a:extLst>
              <a:ext uri="{FF2B5EF4-FFF2-40B4-BE49-F238E27FC236}">
                <a16:creationId xmlns:a16="http://schemas.microsoft.com/office/drawing/2014/main" id="{71DACA79-3553-1BB0-4323-70622F8FA7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815" y="105714"/>
            <a:ext cx="1112273" cy="1079806"/>
          </a:xfrm>
          <a:prstGeom prst="rect">
            <a:avLst/>
          </a:prstGeom>
        </p:spPr>
      </p:pic>
    </p:spTree>
    <p:extLst>
      <p:ext uri="{BB962C8B-B14F-4D97-AF65-F5344CB8AC3E}">
        <p14:creationId xmlns:p14="http://schemas.microsoft.com/office/powerpoint/2010/main" val="1154367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7F831-4BB1-D52C-0348-FAE6608F4F4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C77AF0A-B176-EE0E-408B-02AB9C35DBF8}"/>
              </a:ext>
            </a:extLst>
          </p:cNvPr>
          <p:cNvSpPr>
            <a:spLocks noGrp="1"/>
          </p:cNvSpPr>
          <p:nvPr>
            <p:ph type="title"/>
          </p:nvPr>
        </p:nvSpPr>
        <p:spPr/>
        <p:txBody>
          <a:bodyPr/>
          <a:lstStyle/>
          <a:p>
            <a:pPr algn="ctr"/>
            <a:r>
              <a:rPr lang="es-CO" dirty="0"/>
              <a:t>Definiciones</a:t>
            </a:r>
          </a:p>
        </p:txBody>
      </p:sp>
      <p:sp>
        <p:nvSpPr>
          <p:cNvPr id="4" name="CuadroTexto 3">
            <a:extLst>
              <a:ext uri="{FF2B5EF4-FFF2-40B4-BE49-F238E27FC236}">
                <a16:creationId xmlns:a16="http://schemas.microsoft.com/office/drawing/2014/main" id="{34C6CD2D-81C0-1507-C456-5AFB36296C4C}"/>
              </a:ext>
            </a:extLst>
          </p:cNvPr>
          <p:cNvSpPr txBox="1"/>
          <p:nvPr/>
        </p:nvSpPr>
        <p:spPr>
          <a:xfrm>
            <a:off x="1334680" y="2140355"/>
            <a:ext cx="4030824" cy="2554545"/>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ACTO INSEGURO:</a:t>
            </a:r>
          </a:p>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Todas las acciones y decisiones humanas, que pueden causar una situación insegura o incidente, con consecuencias para el trabajador, la producción, el medio ambiente y otras personas.</a:t>
            </a:r>
          </a:p>
        </p:txBody>
      </p:sp>
      <p:sp>
        <p:nvSpPr>
          <p:cNvPr id="3" name="CuadroTexto 2">
            <a:extLst>
              <a:ext uri="{FF2B5EF4-FFF2-40B4-BE49-F238E27FC236}">
                <a16:creationId xmlns:a16="http://schemas.microsoft.com/office/drawing/2014/main" id="{73F91F13-C459-4D37-E1AD-868FF2DBF60E}"/>
              </a:ext>
            </a:extLst>
          </p:cNvPr>
          <p:cNvSpPr txBox="1"/>
          <p:nvPr/>
        </p:nvSpPr>
        <p:spPr>
          <a:xfrm>
            <a:off x="6826497" y="2151726"/>
            <a:ext cx="4030824" cy="2554545"/>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CONDICIÓN INSEGURA</a:t>
            </a:r>
          </a:p>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Toda condición en el entorno de trabajo, incluidos equipos y materiales, o métodos de trabajo establecidos que puede causar un accidente o enfermedad laboral</a:t>
            </a:r>
          </a:p>
          <a:p>
            <a:pPr algn="just"/>
            <a:endParaRPr lang="es-ES" sz="2000" b="0" i="0" dirty="0">
              <a:solidFill>
                <a:srgbClr val="464646"/>
              </a:solidFill>
              <a:effectLst/>
              <a:latin typeface="Gill Sans MT" panose="020B0502020104020203" pitchFamily="34" charset="0"/>
            </a:endParaRPr>
          </a:p>
        </p:txBody>
      </p:sp>
      <p:pic>
        <p:nvPicPr>
          <p:cNvPr id="6" name="Imagen 5">
            <a:extLst>
              <a:ext uri="{FF2B5EF4-FFF2-40B4-BE49-F238E27FC236}">
                <a16:creationId xmlns:a16="http://schemas.microsoft.com/office/drawing/2014/main" id="{B1FF3475-5BD6-CFB7-FB8F-D97E1CF4C3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063" y="149226"/>
            <a:ext cx="1112273" cy="1112273"/>
          </a:xfrm>
          <a:prstGeom prst="rect">
            <a:avLst/>
          </a:prstGeom>
        </p:spPr>
      </p:pic>
    </p:spTree>
    <p:extLst>
      <p:ext uri="{BB962C8B-B14F-4D97-AF65-F5344CB8AC3E}">
        <p14:creationId xmlns:p14="http://schemas.microsoft.com/office/powerpoint/2010/main" val="2611660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4E5CC-50B3-0D95-8010-C05E4DA8382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BDA5DEA-39CC-60E7-940C-377C771C912F}"/>
              </a:ext>
            </a:extLst>
          </p:cNvPr>
          <p:cNvSpPr>
            <a:spLocks noGrp="1"/>
          </p:cNvSpPr>
          <p:nvPr>
            <p:ph type="title"/>
          </p:nvPr>
        </p:nvSpPr>
        <p:spPr/>
        <p:txBody>
          <a:bodyPr/>
          <a:lstStyle/>
          <a:p>
            <a:pPr algn="ctr"/>
            <a:r>
              <a:rPr lang="es-CO" dirty="0"/>
              <a:t>Definiciones</a:t>
            </a:r>
          </a:p>
        </p:txBody>
      </p:sp>
      <p:sp>
        <p:nvSpPr>
          <p:cNvPr id="4" name="CuadroTexto 3">
            <a:extLst>
              <a:ext uri="{FF2B5EF4-FFF2-40B4-BE49-F238E27FC236}">
                <a16:creationId xmlns:a16="http://schemas.microsoft.com/office/drawing/2014/main" id="{3D3E8FB7-633E-E695-1344-8B1ED47D4B88}"/>
              </a:ext>
            </a:extLst>
          </p:cNvPr>
          <p:cNvSpPr txBox="1"/>
          <p:nvPr/>
        </p:nvSpPr>
        <p:spPr>
          <a:xfrm>
            <a:off x="1334680" y="2140355"/>
            <a:ext cx="4030824" cy="2246769"/>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PELIGRO:</a:t>
            </a:r>
          </a:p>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Fuente situación o acto con potencial de generar daño en términos de enfermedad o lesión a las personas o una combinación de estos.</a:t>
            </a:r>
          </a:p>
        </p:txBody>
      </p:sp>
      <p:sp>
        <p:nvSpPr>
          <p:cNvPr id="3" name="CuadroTexto 2">
            <a:extLst>
              <a:ext uri="{FF2B5EF4-FFF2-40B4-BE49-F238E27FC236}">
                <a16:creationId xmlns:a16="http://schemas.microsoft.com/office/drawing/2014/main" id="{1FD019F4-4A93-E04C-4390-DB28792BA0D2}"/>
              </a:ext>
            </a:extLst>
          </p:cNvPr>
          <p:cNvSpPr txBox="1"/>
          <p:nvPr/>
        </p:nvSpPr>
        <p:spPr>
          <a:xfrm>
            <a:off x="6826497" y="2151726"/>
            <a:ext cx="4030824" cy="2554545"/>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RIESGO:</a:t>
            </a:r>
          </a:p>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Combinación de la probabilida</a:t>
            </a:r>
            <a:r>
              <a:rPr lang="es-ES" sz="2000" dirty="0">
                <a:solidFill>
                  <a:srgbClr val="464646"/>
                </a:solidFill>
                <a:latin typeface="Gill Sans MT" panose="020B0502020104020203" pitchFamily="34" charset="0"/>
              </a:rPr>
              <a:t>d de que ocurra un evento o exposición peligrosa y la severidad de lesión o enfermedad que puede ser causada por el evento o exposición</a:t>
            </a:r>
            <a:endParaRPr lang="es-ES" sz="2000" b="0" i="0" dirty="0">
              <a:solidFill>
                <a:srgbClr val="464646"/>
              </a:solidFill>
              <a:effectLst/>
              <a:latin typeface="Gill Sans MT" panose="020B0502020104020203" pitchFamily="34" charset="0"/>
            </a:endParaRPr>
          </a:p>
          <a:p>
            <a:pPr algn="just"/>
            <a:endParaRPr lang="es-ES" sz="2000" b="0" i="0" dirty="0">
              <a:solidFill>
                <a:srgbClr val="464646"/>
              </a:solidFill>
              <a:effectLst/>
              <a:latin typeface="Gill Sans MT" panose="020B0502020104020203" pitchFamily="34" charset="0"/>
            </a:endParaRPr>
          </a:p>
        </p:txBody>
      </p:sp>
      <p:pic>
        <p:nvPicPr>
          <p:cNvPr id="5" name="Imagen 4">
            <a:extLst>
              <a:ext uri="{FF2B5EF4-FFF2-40B4-BE49-F238E27FC236}">
                <a16:creationId xmlns:a16="http://schemas.microsoft.com/office/drawing/2014/main" id="{A8697913-031B-151F-A379-FD28A4C959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07" y="139394"/>
            <a:ext cx="1112273" cy="1112273"/>
          </a:xfrm>
          <a:prstGeom prst="rect">
            <a:avLst/>
          </a:prstGeom>
        </p:spPr>
      </p:pic>
    </p:spTree>
    <p:extLst>
      <p:ext uri="{BB962C8B-B14F-4D97-AF65-F5344CB8AC3E}">
        <p14:creationId xmlns:p14="http://schemas.microsoft.com/office/powerpoint/2010/main" val="1694615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B623C-CA68-7921-D57D-4D507F698657}"/>
            </a:ext>
          </a:extLst>
        </p:cNvPr>
        <p:cNvGrpSpPr/>
        <p:nvPr/>
      </p:nvGrpSpPr>
      <p:grpSpPr>
        <a:xfrm>
          <a:off x="0" y="0"/>
          <a:ext cx="0" cy="0"/>
          <a:chOff x="0" y="0"/>
          <a:chExt cx="0" cy="0"/>
        </a:xfrm>
      </p:grpSpPr>
      <p:pic>
        <p:nvPicPr>
          <p:cNvPr id="10" name="Picture 4">
            <a:extLst>
              <a:ext uri="{FF2B5EF4-FFF2-40B4-BE49-F238E27FC236}">
                <a16:creationId xmlns:a16="http://schemas.microsoft.com/office/drawing/2014/main" id="{36793954-A87C-C5C9-5016-2563D24C2357}"/>
              </a:ext>
            </a:extLst>
          </p:cNvPr>
          <p:cNvPicPr>
            <a:picLocks noGrp="1" noChangeAspect="1" noChangeArrowheads="1"/>
          </p:cNvPicPr>
          <p:nvPr>
            <p:ph idx="1"/>
          </p:nvPr>
        </p:nvPicPr>
        <p:blipFill>
          <a:blip r:embed="rId2"/>
          <a:srcRect/>
          <a:stretch>
            <a:fillRect/>
          </a:stretch>
        </p:blipFill>
        <p:spPr bwMode="auto">
          <a:xfrm>
            <a:off x="2947145" y="901394"/>
            <a:ext cx="6708131" cy="5492418"/>
          </a:xfrm>
          <a:prstGeom prst="rect">
            <a:avLst/>
          </a:prstGeom>
          <a:noFill/>
          <a:ln w="38100">
            <a:solidFill>
              <a:srgbClr val="000099"/>
            </a:solidFill>
            <a:miter lim="800000"/>
            <a:headEnd/>
            <a:tailEnd/>
          </a:ln>
          <a:effectLst/>
        </p:spPr>
      </p:pic>
      <p:pic>
        <p:nvPicPr>
          <p:cNvPr id="2" name="Imagen 1">
            <a:extLst>
              <a:ext uri="{FF2B5EF4-FFF2-40B4-BE49-F238E27FC236}">
                <a16:creationId xmlns:a16="http://schemas.microsoft.com/office/drawing/2014/main" id="{1C3214CD-DB7E-BB24-E312-864DE7F367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585" y="139394"/>
            <a:ext cx="1112273" cy="1112273"/>
          </a:xfrm>
          <a:prstGeom prst="rect">
            <a:avLst/>
          </a:prstGeom>
        </p:spPr>
      </p:pic>
    </p:spTree>
    <p:extLst>
      <p:ext uri="{BB962C8B-B14F-4D97-AF65-F5344CB8AC3E}">
        <p14:creationId xmlns:p14="http://schemas.microsoft.com/office/powerpoint/2010/main" val="2680569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89A01-51FB-BD25-2DF0-6954E3FCDD9E}"/>
            </a:ext>
          </a:extLst>
        </p:cNvPr>
        <p:cNvGrpSpPr/>
        <p:nvPr/>
      </p:nvGrpSpPr>
      <p:grpSpPr>
        <a:xfrm>
          <a:off x="0" y="0"/>
          <a:ext cx="0" cy="0"/>
          <a:chOff x="0" y="0"/>
          <a:chExt cx="0" cy="0"/>
        </a:xfrm>
      </p:grpSpPr>
      <p:pic>
        <p:nvPicPr>
          <p:cNvPr id="4" name="Picture 2">
            <a:extLst>
              <a:ext uri="{FF2B5EF4-FFF2-40B4-BE49-F238E27FC236}">
                <a16:creationId xmlns:a16="http://schemas.microsoft.com/office/drawing/2014/main" id="{D268892A-F2C2-482A-9189-B785EA1C8CEA}"/>
              </a:ext>
            </a:extLst>
          </p:cNvPr>
          <p:cNvPicPr>
            <a:picLocks noChangeAspect="1" noChangeArrowheads="1"/>
          </p:cNvPicPr>
          <p:nvPr/>
        </p:nvPicPr>
        <p:blipFill>
          <a:blip r:embed="rId2"/>
          <a:srcRect/>
          <a:stretch>
            <a:fillRect/>
          </a:stretch>
        </p:blipFill>
        <p:spPr bwMode="auto">
          <a:xfrm>
            <a:off x="3474342" y="1092033"/>
            <a:ext cx="5915465" cy="5134784"/>
          </a:xfrm>
          <a:prstGeom prst="rect">
            <a:avLst/>
          </a:prstGeom>
          <a:noFill/>
          <a:ln w="38100">
            <a:solidFill>
              <a:srgbClr val="0054A8"/>
            </a:solidFill>
            <a:miter lim="800000"/>
            <a:headEnd/>
            <a:tailEnd/>
          </a:ln>
          <a:effectLst/>
        </p:spPr>
      </p:pic>
      <p:pic>
        <p:nvPicPr>
          <p:cNvPr id="2" name="Imagen 1">
            <a:extLst>
              <a:ext uri="{FF2B5EF4-FFF2-40B4-BE49-F238E27FC236}">
                <a16:creationId xmlns:a16="http://schemas.microsoft.com/office/drawing/2014/main" id="{CCB9A9AA-C5C8-EDED-EEDF-C2466D1396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243" y="109897"/>
            <a:ext cx="1112273" cy="1112273"/>
          </a:xfrm>
          <a:prstGeom prst="rect">
            <a:avLst/>
          </a:prstGeom>
        </p:spPr>
      </p:pic>
    </p:spTree>
    <p:extLst>
      <p:ext uri="{BB962C8B-B14F-4D97-AF65-F5344CB8AC3E}">
        <p14:creationId xmlns:p14="http://schemas.microsoft.com/office/powerpoint/2010/main" val="2800192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92037-3C8E-E7FE-5D3C-294EB2C4C69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EAAA046-228D-94E2-41DA-ECA4AD0D0764}"/>
              </a:ext>
            </a:extLst>
          </p:cNvPr>
          <p:cNvSpPr>
            <a:spLocks noGrp="1"/>
          </p:cNvSpPr>
          <p:nvPr>
            <p:ph type="title"/>
          </p:nvPr>
        </p:nvSpPr>
        <p:spPr/>
        <p:txBody>
          <a:bodyPr/>
          <a:lstStyle/>
          <a:p>
            <a:pPr algn="ctr"/>
            <a:r>
              <a:rPr lang="es-CO" dirty="0"/>
              <a:t>Reporte de peligros y riesgos</a:t>
            </a:r>
          </a:p>
        </p:txBody>
      </p:sp>
      <p:sp>
        <p:nvSpPr>
          <p:cNvPr id="4" name="CuadroTexto 3">
            <a:extLst>
              <a:ext uri="{FF2B5EF4-FFF2-40B4-BE49-F238E27FC236}">
                <a16:creationId xmlns:a16="http://schemas.microsoft.com/office/drawing/2014/main" id="{AB81B871-BB13-9CBB-E242-2DF7188340FE}"/>
              </a:ext>
            </a:extLst>
          </p:cNvPr>
          <p:cNvSpPr txBox="1"/>
          <p:nvPr/>
        </p:nvSpPr>
        <p:spPr>
          <a:xfrm>
            <a:off x="1334679" y="2140355"/>
            <a:ext cx="9824933" cy="2246769"/>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En caso de identificar un peligro o riesgo inminente en tu lugar de trabajo realiza el reporte al correo:</a:t>
            </a:r>
          </a:p>
          <a:p>
            <a:pPr algn="just"/>
            <a:endParaRPr lang="es-ES" sz="2000" dirty="0">
              <a:solidFill>
                <a:srgbClr val="464646"/>
              </a:solidFill>
              <a:latin typeface="Gill Sans MT" panose="020B0502020104020203" pitchFamily="34" charset="0"/>
            </a:endParaRPr>
          </a:p>
          <a:p>
            <a:pPr algn="just"/>
            <a:r>
              <a:rPr lang="es-ES" sz="2000" b="0" i="0" dirty="0">
                <a:solidFill>
                  <a:srgbClr val="464646"/>
                </a:solidFill>
                <a:effectLst/>
                <a:latin typeface="Gill Sans MT" panose="020B0502020104020203" pitchFamily="34" charset="0"/>
                <a:hlinkClick r:id="rId2"/>
              </a:rPr>
              <a:t>sistemadegestionobrain@gmail.com</a:t>
            </a:r>
            <a:endParaRPr lang="es-ES" sz="2000" b="0" i="0" dirty="0">
              <a:solidFill>
                <a:srgbClr val="464646"/>
              </a:solidFill>
              <a:effectLst/>
              <a:latin typeface="Gill Sans MT" panose="020B0502020104020203" pitchFamily="34" charset="0"/>
            </a:endParaRPr>
          </a:p>
          <a:p>
            <a:pPr algn="just"/>
            <a:endParaRPr lang="es-ES" sz="2000" dirty="0">
              <a:solidFill>
                <a:srgbClr val="464646"/>
              </a:solidFill>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En lo posible adjunta registro fotografico y describe la situación identificada</a:t>
            </a:r>
          </a:p>
          <a:p>
            <a:pPr algn="just"/>
            <a:r>
              <a:rPr lang="es-ES" sz="2000" dirty="0">
                <a:solidFill>
                  <a:srgbClr val="464646"/>
                </a:solidFill>
                <a:latin typeface="Gill Sans MT" panose="020B0502020104020203" pitchFamily="34" charset="0"/>
              </a:rPr>
              <a:t>Relaciona el nombre de la obra y el lugar especifico</a:t>
            </a:r>
          </a:p>
        </p:txBody>
      </p:sp>
      <p:pic>
        <p:nvPicPr>
          <p:cNvPr id="5" name="Imagen 4">
            <a:extLst>
              <a:ext uri="{FF2B5EF4-FFF2-40B4-BE49-F238E27FC236}">
                <a16:creationId xmlns:a16="http://schemas.microsoft.com/office/drawing/2014/main" id="{6278BAE1-18A7-211D-D431-0C8D750B19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592" y="70568"/>
            <a:ext cx="1112273" cy="1112273"/>
          </a:xfrm>
          <a:prstGeom prst="rect">
            <a:avLst/>
          </a:prstGeom>
        </p:spPr>
      </p:pic>
    </p:spTree>
    <p:extLst>
      <p:ext uri="{BB962C8B-B14F-4D97-AF65-F5344CB8AC3E}">
        <p14:creationId xmlns:p14="http://schemas.microsoft.com/office/powerpoint/2010/main" val="14034858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84A32-F5A5-F5EC-E43C-A9A4C258B29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5A68610-B9C0-21A8-8E9D-8B14F8DB9107}"/>
              </a:ext>
            </a:extLst>
          </p:cNvPr>
          <p:cNvSpPr>
            <a:spLocks noGrp="1"/>
          </p:cNvSpPr>
          <p:nvPr>
            <p:ph type="title"/>
          </p:nvPr>
        </p:nvSpPr>
        <p:spPr/>
        <p:txBody>
          <a:bodyPr/>
          <a:lstStyle/>
          <a:p>
            <a:pPr algn="ctr"/>
            <a:r>
              <a:rPr lang="es-CO" dirty="0"/>
              <a:t>Política SST</a:t>
            </a:r>
          </a:p>
        </p:txBody>
      </p:sp>
      <p:sp>
        <p:nvSpPr>
          <p:cNvPr id="4" name="CuadroTexto 3">
            <a:extLst>
              <a:ext uri="{FF2B5EF4-FFF2-40B4-BE49-F238E27FC236}">
                <a16:creationId xmlns:a16="http://schemas.microsoft.com/office/drawing/2014/main" id="{A99DC76E-799B-A69C-7113-B9B1ED405BA6}"/>
              </a:ext>
            </a:extLst>
          </p:cNvPr>
          <p:cNvSpPr txBox="1"/>
          <p:nvPr/>
        </p:nvSpPr>
        <p:spPr>
          <a:xfrm>
            <a:off x="1334679" y="2140355"/>
            <a:ext cx="9824933" cy="3170099"/>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OBRAIN S.A.S., en cumplimiento de la normatividad nacional vigente en materia de Seguridad y Salud en el Trabajo, establece como prioridad la implementación, mantenimiento y mejora continua del Sistema de Gestión de la Seguridad y Salud en el Trabajo, con el propósito de proteger la integridad física, mental y social de todas las personas que desarrollan actividades para la organización.</a:t>
            </a:r>
          </a:p>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La organización reconoce que su operación se ejecuta mediante personal vinculado bajo la modalidad de contrato de prestación de servicios, por lo cual garantiza la inclusión de los contratistas en el Sistema de Gestión de Seguridad y Salud en el Trabajo, en concordancia con la legislación vigente en riesgos laborales.</a:t>
            </a:r>
          </a:p>
        </p:txBody>
      </p:sp>
      <p:pic>
        <p:nvPicPr>
          <p:cNvPr id="5" name="Imagen 4">
            <a:extLst>
              <a:ext uri="{FF2B5EF4-FFF2-40B4-BE49-F238E27FC236}">
                <a16:creationId xmlns:a16="http://schemas.microsoft.com/office/drawing/2014/main" id="{9E389846-DC68-A5FB-BADF-896929FC0D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592" y="70568"/>
            <a:ext cx="1112273" cy="1112273"/>
          </a:xfrm>
          <a:prstGeom prst="rect">
            <a:avLst/>
          </a:prstGeom>
        </p:spPr>
      </p:pic>
    </p:spTree>
    <p:extLst>
      <p:ext uri="{BB962C8B-B14F-4D97-AF65-F5344CB8AC3E}">
        <p14:creationId xmlns:p14="http://schemas.microsoft.com/office/powerpoint/2010/main" val="1980305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7E343-E322-8B3D-CF4B-EEB3FCB8E30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0AC75B9-22DB-4013-F2D0-B579557F704A}"/>
              </a:ext>
            </a:extLst>
          </p:cNvPr>
          <p:cNvSpPr>
            <a:spLocks noGrp="1"/>
          </p:cNvSpPr>
          <p:nvPr>
            <p:ph type="title"/>
          </p:nvPr>
        </p:nvSpPr>
        <p:spPr/>
        <p:txBody>
          <a:bodyPr/>
          <a:lstStyle/>
          <a:p>
            <a:pPr algn="ctr"/>
            <a:r>
              <a:rPr lang="es-CO" dirty="0"/>
              <a:t>Política SST</a:t>
            </a:r>
          </a:p>
        </p:txBody>
      </p:sp>
      <p:sp>
        <p:nvSpPr>
          <p:cNvPr id="4" name="CuadroTexto 3">
            <a:extLst>
              <a:ext uri="{FF2B5EF4-FFF2-40B4-BE49-F238E27FC236}">
                <a16:creationId xmlns:a16="http://schemas.microsoft.com/office/drawing/2014/main" id="{1763B497-6160-FA81-A120-F07D371D56A7}"/>
              </a:ext>
            </a:extLst>
          </p:cNvPr>
          <p:cNvSpPr txBox="1"/>
          <p:nvPr/>
        </p:nvSpPr>
        <p:spPr>
          <a:xfrm>
            <a:off x="1334679" y="2140355"/>
            <a:ext cx="9824933" cy="3170099"/>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OBRAIN S.A.S. se compromete a:</a:t>
            </a:r>
          </a:p>
          <a:p>
            <a:pPr marL="342900" indent="-342900" algn="just">
              <a:buFont typeface="Arial" panose="020B0604020202020204" pitchFamily="34" charset="0"/>
              <a:buChar char="•"/>
            </a:pPr>
            <a:r>
              <a:rPr lang="es-ES" sz="2000" b="0" i="0" dirty="0">
                <a:solidFill>
                  <a:srgbClr val="464646"/>
                </a:solidFill>
                <a:effectLst/>
                <a:latin typeface="Gill Sans MT" panose="020B0502020104020203" pitchFamily="34" charset="0"/>
              </a:rPr>
              <a:t>Identificar los peligros, evaluar y valorar los riesgos, estableciendo los respectivos controles en todos los centros de trabajo y en cada una de sus actividades.</a:t>
            </a:r>
          </a:p>
          <a:p>
            <a:pPr marL="342900" indent="-342900" algn="just">
              <a:buFont typeface="Arial" panose="020B0604020202020204" pitchFamily="34" charset="0"/>
              <a:buChar char="•"/>
            </a:pPr>
            <a:r>
              <a:rPr lang="es-ES" sz="2000" b="0" i="0" dirty="0">
                <a:solidFill>
                  <a:srgbClr val="464646"/>
                </a:solidFill>
                <a:effectLst/>
                <a:latin typeface="Gill Sans MT" panose="020B0502020104020203" pitchFamily="34" charset="0"/>
              </a:rPr>
              <a:t>Proteger la seguridad y salud de los contratistas, mediante la mejora continua del SG-SST.</a:t>
            </a:r>
          </a:p>
          <a:p>
            <a:pPr marL="342900" indent="-342900" algn="just">
              <a:buFont typeface="Arial" panose="020B0604020202020204" pitchFamily="34" charset="0"/>
              <a:buChar char="•"/>
            </a:pPr>
            <a:r>
              <a:rPr lang="es-ES" sz="2000" b="0" i="0" dirty="0">
                <a:solidFill>
                  <a:srgbClr val="464646"/>
                </a:solidFill>
                <a:effectLst/>
                <a:latin typeface="Gill Sans MT" panose="020B0502020104020203" pitchFamily="34" charset="0"/>
              </a:rPr>
              <a:t>Cumplir con la normatividad legal vigente aplicable en materia de riesgos laborales y demás requisitos que la organización suscriba.</a:t>
            </a:r>
          </a:p>
          <a:p>
            <a:pPr marL="342900" indent="-342900" algn="just">
              <a:buFont typeface="Arial" panose="020B0604020202020204" pitchFamily="34" charset="0"/>
              <a:buChar char="•"/>
            </a:pPr>
            <a:r>
              <a:rPr lang="es-ES" sz="2000" b="0" i="0" dirty="0">
                <a:solidFill>
                  <a:srgbClr val="464646"/>
                </a:solidFill>
                <a:effectLst/>
                <a:latin typeface="Gill Sans MT" panose="020B0502020104020203" pitchFamily="34" charset="0"/>
              </a:rPr>
              <a:t>Asignar los recursos humanos, técnicos, tecnológicos y financieros necesarios para la implementación, mantenimiento y mejora del SG-SST.</a:t>
            </a:r>
          </a:p>
          <a:p>
            <a:pPr marL="342900" indent="-342900" algn="just">
              <a:buFont typeface="Arial" panose="020B0604020202020204" pitchFamily="34" charset="0"/>
              <a:buChar char="•"/>
            </a:pPr>
            <a:r>
              <a:rPr lang="es-ES" sz="2000" b="0" i="0" dirty="0">
                <a:solidFill>
                  <a:srgbClr val="464646"/>
                </a:solidFill>
                <a:effectLst/>
                <a:latin typeface="Gill Sans MT" panose="020B0502020104020203" pitchFamily="34" charset="0"/>
              </a:rPr>
              <a:t>Promover, verificar y exigir el cumplimiento de las obligaciones en Seguridad y Salud en el Trabajo por parte de los contratistas, de acuerdo con la normatividad vigente.</a:t>
            </a:r>
          </a:p>
        </p:txBody>
      </p:sp>
      <p:pic>
        <p:nvPicPr>
          <p:cNvPr id="5" name="Imagen 4">
            <a:extLst>
              <a:ext uri="{FF2B5EF4-FFF2-40B4-BE49-F238E27FC236}">
                <a16:creationId xmlns:a16="http://schemas.microsoft.com/office/drawing/2014/main" id="{D0B30D6C-4646-F703-89C4-DD097DC610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592" y="70568"/>
            <a:ext cx="1112273" cy="1112273"/>
          </a:xfrm>
          <a:prstGeom prst="rect">
            <a:avLst/>
          </a:prstGeom>
        </p:spPr>
      </p:pic>
    </p:spTree>
    <p:extLst>
      <p:ext uri="{BB962C8B-B14F-4D97-AF65-F5344CB8AC3E}">
        <p14:creationId xmlns:p14="http://schemas.microsoft.com/office/powerpoint/2010/main" val="4257611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18498-C507-8A06-9751-264C5E33D1E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7DAABF6-43CB-8208-42AE-CA8569684C05}"/>
              </a:ext>
            </a:extLst>
          </p:cNvPr>
          <p:cNvSpPr>
            <a:spLocks noGrp="1"/>
          </p:cNvSpPr>
          <p:nvPr>
            <p:ph type="title"/>
          </p:nvPr>
        </p:nvSpPr>
        <p:spPr/>
        <p:txBody>
          <a:bodyPr/>
          <a:lstStyle/>
          <a:p>
            <a:pPr algn="ctr"/>
            <a:r>
              <a:rPr lang="es-CO" dirty="0"/>
              <a:t>Política SST</a:t>
            </a:r>
          </a:p>
        </p:txBody>
      </p:sp>
      <p:sp>
        <p:nvSpPr>
          <p:cNvPr id="4" name="CuadroTexto 3">
            <a:extLst>
              <a:ext uri="{FF2B5EF4-FFF2-40B4-BE49-F238E27FC236}">
                <a16:creationId xmlns:a16="http://schemas.microsoft.com/office/drawing/2014/main" id="{09025D99-EDA8-8C82-0ABF-2AEF48FF41AB}"/>
              </a:ext>
            </a:extLst>
          </p:cNvPr>
          <p:cNvSpPr txBox="1"/>
          <p:nvPr/>
        </p:nvSpPr>
        <p:spPr>
          <a:xfrm>
            <a:off x="1334679" y="2140355"/>
            <a:ext cx="9824933" cy="3170099"/>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Esta política aplica a todos los centros de trabajo y a todas las personas que desarrollen actividades para OBRAIN S.A.S., independiente de su forma de vinculación, incluyendo contratistas y, cuando aplique, subcontratistas.</a:t>
            </a:r>
          </a:p>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OBRAIN S.A.S. fomentará la participación activa de los contratistas en la identificación de peligros y control de riesgos, promoviendo una cultura de autocuidado y el reporte oportuno de condiciones y actos inseguros. </a:t>
            </a:r>
          </a:p>
          <a:p>
            <a:pPr algn="just"/>
            <a:r>
              <a:rPr lang="es-ES" sz="2000" b="0" i="0" dirty="0">
                <a:solidFill>
                  <a:srgbClr val="464646"/>
                </a:solidFill>
                <a:effectLst/>
                <a:latin typeface="Gill Sans MT" panose="020B0502020104020203" pitchFamily="34" charset="0"/>
              </a:rPr>
              <a:t>La presente política será comunicada, difundida y estará disponible para todas las partes interesadas, y será revisada como mínimo una vez al año o cuando se presenten cambios en la organización o en la normatividad vigente.</a:t>
            </a:r>
          </a:p>
        </p:txBody>
      </p:sp>
      <p:pic>
        <p:nvPicPr>
          <p:cNvPr id="5" name="Imagen 4">
            <a:extLst>
              <a:ext uri="{FF2B5EF4-FFF2-40B4-BE49-F238E27FC236}">
                <a16:creationId xmlns:a16="http://schemas.microsoft.com/office/drawing/2014/main" id="{E8191920-6334-E254-C596-5E35990CBA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592" y="70568"/>
            <a:ext cx="1112273" cy="1112273"/>
          </a:xfrm>
          <a:prstGeom prst="rect">
            <a:avLst/>
          </a:prstGeom>
        </p:spPr>
      </p:pic>
    </p:spTree>
    <p:extLst>
      <p:ext uri="{BB962C8B-B14F-4D97-AF65-F5344CB8AC3E}">
        <p14:creationId xmlns:p14="http://schemas.microsoft.com/office/powerpoint/2010/main" val="37282005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F2A09-4501-6729-5CCE-244EC59D90F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6082CBB-A370-81F6-7406-C6EBAAD1AAA8}"/>
              </a:ext>
            </a:extLst>
          </p:cNvPr>
          <p:cNvSpPr>
            <a:spLocks noGrp="1"/>
          </p:cNvSpPr>
          <p:nvPr>
            <p:ph type="title"/>
          </p:nvPr>
        </p:nvSpPr>
        <p:spPr/>
        <p:txBody>
          <a:bodyPr/>
          <a:lstStyle/>
          <a:p>
            <a:pPr algn="ctr"/>
            <a:r>
              <a:rPr lang="es-CO" dirty="0"/>
              <a:t>Política Prevención consumo</a:t>
            </a:r>
          </a:p>
        </p:txBody>
      </p:sp>
      <p:pic>
        <p:nvPicPr>
          <p:cNvPr id="4" name="Imagen 3">
            <a:extLst>
              <a:ext uri="{FF2B5EF4-FFF2-40B4-BE49-F238E27FC236}">
                <a16:creationId xmlns:a16="http://schemas.microsoft.com/office/drawing/2014/main" id="{48CDD7F2-8D54-02B6-49B3-08685AC9F31A}"/>
              </a:ext>
            </a:extLst>
          </p:cNvPr>
          <p:cNvPicPr>
            <a:picLocks noChangeAspect="1"/>
          </p:cNvPicPr>
          <p:nvPr/>
        </p:nvPicPr>
        <p:blipFill>
          <a:blip r:embed="rId2"/>
          <a:stretch>
            <a:fillRect/>
          </a:stretch>
        </p:blipFill>
        <p:spPr>
          <a:xfrm>
            <a:off x="2071564" y="1565336"/>
            <a:ext cx="8383170" cy="4258269"/>
          </a:xfrm>
          <a:prstGeom prst="rect">
            <a:avLst/>
          </a:prstGeom>
        </p:spPr>
      </p:pic>
      <p:pic>
        <p:nvPicPr>
          <p:cNvPr id="6" name="Imagen 5">
            <a:extLst>
              <a:ext uri="{FF2B5EF4-FFF2-40B4-BE49-F238E27FC236}">
                <a16:creationId xmlns:a16="http://schemas.microsoft.com/office/drawing/2014/main" id="{43A0E7AA-44FA-9E53-48F5-D7A6F48E47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256" y="119729"/>
            <a:ext cx="1112273" cy="1112273"/>
          </a:xfrm>
          <a:prstGeom prst="rect">
            <a:avLst/>
          </a:prstGeom>
        </p:spPr>
      </p:pic>
    </p:spTree>
    <p:extLst>
      <p:ext uri="{BB962C8B-B14F-4D97-AF65-F5344CB8AC3E}">
        <p14:creationId xmlns:p14="http://schemas.microsoft.com/office/powerpoint/2010/main" val="25894876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41C65-B9D7-7AB1-562B-7D99F1E23CD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F407335-1AE5-9B58-436A-71BA9556A769}"/>
              </a:ext>
            </a:extLst>
          </p:cNvPr>
          <p:cNvSpPr>
            <a:spLocks noGrp="1"/>
          </p:cNvSpPr>
          <p:nvPr>
            <p:ph type="title"/>
          </p:nvPr>
        </p:nvSpPr>
        <p:spPr/>
        <p:txBody>
          <a:bodyPr/>
          <a:lstStyle/>
          <a:p>
            <a:pPr algn="ctr"/>
            <a:r>
              <a:rPr lang="es-CO" dirty="0"/>
              <a:t>Política Prevención consumo</a:t>
            </a:r>
          </a:p>
        </p:txBody>
      </p:sp>
      <p:pic>
        <p:nvPicPr>
          <p:cNvPr id="5" name="Imagen 4">
            <a:extLst>
              <a:ext uri="{FF2B5EF4-FFF2-40B4-BE49-F238E27FC236}">
                <a16:creationId xmlns:a16="http://schemas.microsoft.com/office/drawing/2014/main" id="{873F6A93-C198-E8DC-4B64-1C56A047BB33}"/>
              </a:ext>
            </a:extLst>
          </p:cNvPr>
          <p:cNvPicPr>
            <a:picLocks noChangeAspect="1"/>
          </p:cNvPicPr>
          <p:nvPr/>
        </p:nvPicPr>
        <p:blipFill>
          <a:blip r:embed="rId2"/>
          <a:stretch>
            <a:fillRect/>
          </a:stretch>
        </p:blipFill>
        <p:spPr>
          <a:xfrm>
            <a:off x="1971099" y="1457050"/>
            <a:ext cx="8249801" cy="3943900"/>
          </a:xfrm>
          <a:prstGeom prst="rect">
            <a:avLst/>
          </a:prstGeom>
        </p:spPr>
      </p:pic>
      <p:pic>
        <p:nvPicPr>
          <p:cNvPr id="6" name="Imagen 5">
            <a:extLst>
              <a:ext uri="{FF2B5EF4-FFF2-40B4-BE49-F238E27FC236}">
                <a16:creationId xmlns:a16="http://schemas.microsoft.com/office/drawing/2014/main" id="{8E775515-C307-6FF5-46AC-2C059C8103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585" y="100065"/>
            <a:ext cx="1112273" cy="1112273"/>
          </a:xfrm>
          <a:prstGeom prst="rect">
            <a:avLst/>
          </a:prstGeom>
        </p:spPr>
      </p:pic>
    </p:spTree>
    <p:extLst>
      <p:ext uri="{BB962C8B-B14F-4D97-AF65-F5344CB8AC3E}">
        <p14:creationId xmlns:p14="http://schemas.microsoft.com/office/powerpoint/2010/main" val="40822087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FEECD-2952-3774-AE00-8C4CA5045AB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A8DBBFF-48B6-15F5-A58E-681FBA6F5C82}"/>
              </a:ext>
            </a:extLst>
          </p:cNvPr>
          <p:cNvSpPr>
            <a:spLocks noGrp="1"/>
          </p:cNvSpPr>
          <p:nvPr>
            <p:ph type="title"/>
          </p:nvPr>
        </p:nvSpPr>
        <p:spPr/>
        <p:txBody>
          <a:bodyPr/>
          <a:lstStyle/>
          <a:p>
            <a:pPr algn="ctr"/>
            <a:r>
              <a:rPr lang="es-CO" dirty="0"/>
              <a:t>Política Prevención consumo</a:t>
            </a:r>
          </a:p>
        </p:txBody>
      </p:sp>
      <p:pic>
        <p:nvPicPr>
          <p:cNvPr id="4" name="Imagen 3">
            <a:extLst>
              <a:ext uri="{FF2B5EF4-FFF2-40B4-BE49-F238E27FC236}">
                <a16:creationId xmlns:a16="http://schemas.microsoft.com/office/drawing/2014/main" id="{7F766B03-6198-DBCC-8650-A31C7F068101}"/>
              </a:ext>
            </a:extLst>
          </p:cNvPr>
          <p:cNvPicPr>
            <a:picLocks noChangeAspect="1"/>
          </p:cNvPicPr>
          <p:nvPr/>
        </p:nvPicPr>
        <p:blipFill>
          <a:blip r:embed="rId2"/>
          <a:stretch>
            <a:fillRect/>
          </a:stretch>
        </p:blipFill>
        <p:spPr>
          <a:xfrm>
            <a:off x="1970925" y="1861744"/>
            <a:ext cx="8545118" cy="3429479"/>
          </a:xfrm>
          <a:prstGeom prst="rect">
            <a:avLst/>
          </a:prstGeom>
        </p:spPr>
      </p:pic>
      <p:pic>
        <p:nvPicPr>
          <p:cNvPr id="6" name="Imagen 5">
            <a:extLst>
              <a:ext uri="{FF2B5EF4-FFF2-40B4-BE49-F238E27FC236}">
                <a16:creationId xmlns:a16="http://schemas.microsoft.com/office/drawing/2014/main" id="{6CC6D656-2EF7-FF4F-14FA-112A2166D7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27" y="107807"/>
            <a:ext cx="1112273" cy="1112273"/>
          </a:xfrm>
          <a:prstGeom prst="rect">
            <a:avLst/>
          </a:prstGeom>
        </p:spPr>
      </p:pic>
    </p:spTree>
    <p:extLst>
      <p:ext uri="{BB962C8B-B14F-4D97-AF65-F5344CB8AC3E}">
        <p14:creationId xmlns:p14="http://schemas.microsoft.com/office/powerpoint/2010/main" val="9413583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CF72F-8F01-8A0B-70CC-37F3818DCEDA}"/>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E995E462-4227-AF87-315E-B1837C2A59B4}"/>
              </a:ext>
            </a:extLst>
          </p:cNvPr>
          <p:cNvSpPr txBox="1"/>
          <p:nvPr/>
        </p:nvSpPr>
        <p:spPr>
          <a:xfrm>
            <a:off x="1371599" y="2316838"/>
            <a:ext cx="10095723" cy="1938992"/>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Afiliar a los empleados a la ARL.</a:t>
            </a:r>
          </a:p>
          <a:p>
            <a:pPr algn="just"/>
            <a:r>
              <a:rPr lang="es-ES" sz="2000" b="0" i="0" dirty="0">
                <a:solidFill>
                  <a:srgbClr val="464646"/>
                </a:solidFill>
                <a:effectLst/>
                <a:latin typeface="Gill Sans MT" panose="020B0502020104020203" pitchFamily="34" charset="0"/>
              </a:rPr>
              <a:t>Pagar oportunamente las cotizaciones de los trabajadores afiliados.</a:t>
            </a:r>
          </a:p>
          <a:p>
            <a:pPr algn="just"/>
            <a:r>
              <a:rPr lang="es-ES" sz="2000" b="0" i="0" dirty="0">
                <a:solidFill>
                  <a:srgbClr val="464646"/>
                </a:solidFill>
                <a:effectLst/>
                <a:latin typeface="Gill Sans MT" panose="020B0502020104020203" pitchFamily="34" charset="0"/>
              </a:rPr>
              <a:t>Procurar el cuidado integral de la salud de los trabajadores y de los ambientes de trabajo.</a:t>
            </a:r>
          </a:p>
          <a:p>
            <a:pPr algn="just"/>
            <a:r>
              <a:rPr lang="es-ES" sz="2000" b="0" i="0" dirty="0">
                <a:solidFill>
                  <a:srgbClr val="464646"/>
                </a:solidFill>
                <a:effectLst/>
                <a:latin typeface="Gill Sans MT" panose="020B0502020104020203" pitchFamily="34" charset="0"/>
              </a:rPr>
              <a:t>Programar, ejecutar y hacer seguimiento al Sistema de Gestión de la Seguridad y Salud en el Trabajo.</a:t>
            </a:r>
          </a:p>
          <a:p>
            <a:pPr algn="just"/>
            <a:r>
              <a:rPr lang="es-ES" sz="2000" b="0" i="0" dirty="0">
                <a:solidFill>
                  <a:srgbClr val="464646"/>
                </a:solidFill>
                <a:effectLst/>
                <a:latin typeface="Gill Sans MT" panose="020B0502020104020203" pitchFamily="34" charset="0"/>
              </a:rPr>
              <a:t>Notificar todo accidente de trabajo o enfermedad laboral a la ARL.</a:t>
            </a:r>
          </a:p>
        </p:txBody>
      </p:sp>
      <p:sp>
        <p:nvSpPr>
          <p:cNvPr id="3" name="CuadroTexto 2">
            <a:extLst>
              <a:ext uri="{FF2B5EF4-FFF2-40B4-BE49-F238E27FC236}">
                <a16:creationId xmlns:a16="http://schemas.microsoft.com/office/drawing/2014/main" id="{EC853BE7-64BE-9AD1-4306-B300F19D3C50}"/>
              </a:ext>
            </a:extLst>
          </p:cNvPr>
          <p:cNvSpPr txBox="1"/>
          <p:nvPr/>
        </p:nvSpPr>
        <p:spPr>
          <a:xfrm>
            <a:off x="1685178" y="793119"/>
            <a:ext cx="8556171" cy="707886"/>
          </a:xfrm>
          <a:prstGeom prst="rect">
            <a:avLst/>
          </a:prstGeom>
          <a:noFill/>
        </p:spPr>
        <p:txBody>
          <a:bodyPr wrap="square" rtlCol="0">
            <a:spAutoFit/>
          </a:bodyPr>
          <a:lstStyle/>
          <a:p>
            <a:pPr algn="ctr"/>
            <a:r>
              <a:rPr lang="es-CO" sz="4000" dirty="0">
                <a:latin typeface="Gill Sans MT" panose="020B0502020104020203" pitchFamily="34" charset="0"/>
              </a:rPr>
              <a:t>Responsabilidades del empleador</a:t>
            </a:r>
          </a:p>
        </p:txBody>
      </p:sp>
      <p:pic>
        <p:nvPicPr>
          <p:cNvPr id="4" name="Imagen 3">
            <a:extLst>
              <a:ext uri="{FF2B5EF4-FFF2-40B4-BE49-F238E27FC236}">
                <a16:creationId xmlns:a16="http://schemas.microsoft.com/office/drawing/2014/main" id="{02013B9C-726D-7451-5BA9-ECC58385D8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326" y="34789"/>
            <a:ext cx="1112273" cy="1112273"/>
          </a:xfrm>
          <a:prstGeom prst="rect">
            <a:avLst/>
          </a:prstGeom>
        </p:spPr>
      </p:pic>
    </p:spTree>
    <p:extLst>
      <p:ext uri="{BB962C8B-B14F-4D97-AF65-F5344CB8AC3E}">
        <p14:creationId xmlns:p14="http://schemas.microsoft.com/office/powerpoint/2010/main" val="25825108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74360-83CA-105C-71EB-8AC16CD16705}"/>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C26B6452-65F7-5DC2-EFD8-8FF7590E198D}"/>
              </a:ext>
            </a:extLst>
          </p:cNvPr>
          <p:cNvSpPr txBox="1"/>
          <p:nvPr/>
        </p:nvSpPr>
        <p:spPr>
          <a:xfrm>
            <a:off x="1371599" y="2316838"/>
            <a:ext cx="10095723" cy="1938992"/>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Conocer y tener clara la política de SST</a:t>
            </a:r>
          </a:p>
          <a:p>
            <a:pPr algn="just"/>
            <a:r>
              <a:rPr lang="es-ES" sz="2000" b="0" i="0" dirty="0">
                <a:solidFill>
                  <a:srgbClr val="464646"/>
                </a:solidFill>
                <a:effectLst/>
                <a:latin typeface="Gill Sans MT" panose="020B0502020104020203" pitchFamily="34" charset="0"/>
              </a:rPr>
              <a:t>Procurar el cuidado integral de su salud.</a:t>
            </a:r>
          </a:p>
          <a:p>
            <a:pPr algn="just"/>
            <a:r>
              <a:rPr lang="es-ES" sz="2000" b="0" i="0" dirty="0">
                <a:solidFill>
                  <a:srgbClr val="464646"/>
                </a:solidFill>
                <a:effectLst/>
                <a:latin typeface="Gill Sans MT" panose="020B0502020104020203" pitchFamily="34" charset="0"/>
              </a:rPr>
              <a:t>Suministrar información clara, completa y veraz sobre su estado de salud.</a:t>
            </a:r>
          </a:p>
          <a:p>
            <a:pPr algn="just"/>
            <a:r>
              <a:rPr lang="es-ES" sz="2000" b="0" i="0" dirty="0">
                <a:solidFill>
                  <a:srgbClr val="464646"/>
                </a:solidFill>
                <a:effectLst/>
                <a:latin typeface="Gill Sans MT" panose="020B0502020104020203" pitchFamily="34" charset="0"/>
              </a:rPr>
              <a:t>Cumplir  con las normas, reglamentos e instrucciones  del  SG-SST</a:t>
            </a:r>
          </a:p>
          <a:p>
            <a:pPr algn="just"/>
            <a:r>
              <a:rPr lang="es-ES" sz="2000" b="0" i="0" dirty="0">
                <a:solidFill>
                  <a:srgbClr val="464646"/>
                </a:solidFill>
                <a:effectLst/>
                <a:latin typeface="Gill Sans MT" panose="020B0502020104020203" pitchFamily="34" charset="0"/>
              </a:rPr>
              <a:t>Participar en la prevención de riesgos laborales mediante las actividades que se realicen en la empresa.</a:t>
            </a:r>
          </a:p>
        </p:txBody>
      </p:sp>
      <p:sp>
        <p:nvSpPr>
          <p:cNvPr id="3" name="CuadroTexto 2">
            <a:extLst>
              <a:ext uri="{FF2B5EF4-FFF2-40B4-BE49-F238E27FC236}">
                <a16:creationId xmlns:a16="http://schemas.microsoft.com/office/drawing/2014/main" id="{6B84FDB7-3D91-BF60-DE71-A10D285929C3}"/>
              </a:ext>
            </a:extLst>
          </p:cNvPr>
          <p:cNvSpPr txBox="1"/>
          <p:nvPr/>
        </p:nvSpPr>
        <p:spPr>
          <a:xfrm>
            <a:off x="1685178" y="793119"/>
            <a:ext cx="8556171" cy="707886"/>
          </a:xfrm>
          <a:prstGeom prst="rect">
            <a:avLst/>
          </a:prstGeom>
          <a:noFill/>
        </p:spPr>
        <p:txBody>
          <a:bodyPr wrap="square" rtlCol="0">
            <a:spAutoFit/>
          </a:bodyPr>
          <a:lstStyle/>
          <a:p>
            <a:pPr algn="ctr"/>
            <a:r>
              <a:rPr lang="es-CO" sz="4000" dirty="0">
                <a:latin typeface="Gill Sans MT" panose="020B0502020104020203" pitchFamily="34" charset="0"/>
              </a:rPr>
              <a:t>Responsabilidades de los trabajadores</a:t>
            </a:r>
          </a:p>
        </p:txBody>
      </p:sp>
      <p:pic>
        <p:nvPicPr>
          <p:cNvPr id="4" name="Imagen 3">
            <a:extLst>
              <a:ext uri="{FF2B5EF4-FFF2-40B4-BE49-F238E27FC236}">
                <a16:creationId xmlns:a16="http://schemas.microsoft.com/office/drawing/2014/main" id="{B803A4FC-DB4A-075A-49D5-87C181B951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753" y="109897"/>
            <a:ext cx="1112273" cy="1112273"/>
          </a:xfrm>
          <a:prstGeom prst="rect">
            <a:avLst/>
          </a:prstGeom>
        </p:spPr>
      </p:pic>
    </p:spTree>
    <p:extLst>
      <p:ext uri="{BB962C8B-B14F-4D97-AF65-F5344CB8AC3E}">
        <p14:creationId xmlns:p14="http://schemas.microsoft.com/office/powerpoint/2010/main" val="22167197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03314-BEE9-D2DB-2DB5-38D0FC9B94B4}"/>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E1EBC95B-4BC6-1B81-02D0-E46F0AD50C99}"/>
              </a:ext>
            </a:extLst>
          </p:cNvPr>
          <p:cNvSpPr txBox="1"/>
          <p:nvPr/>
        </p:nvSpPr>
        <p:spPr>
          <a:xfrm>
            <a:off x="1371599" y="2316838"/>
            <a:ext cx="10095723" cy="1938992"/>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Participar y contribuir al cumplimiento de los objetivos del SG-SST.</a:t>
            </a:r>
          </a:p>
          <a:p>
            <a:pPr algn="just"/>
            <a:r>
              <a:rPr lang="es-ES" sz="2000" b="0" i="0" dirty="0">
                <a:solidFill>
                  <a:srgbClr val="464646"/>
                </a:solidFill>
                <a:effectLst/>
                <a:latin typeface="Gill Sans MT" panose="020B0502020104020203" pitchFamily="34" charset="0"/>
              </a:rPr>
              <a:t>Informar  inmediatamente los peligros, riesgo, condiciones peligrosas y actos inseguros a la responsable del SGSST</a:t>
            </a:r>
          </a:p>
          <a:p>
            <a:pPr algn="just"/>
            <a:r>
              <a:rPr lang="es-ES" sz="2000" b="0" i="0" dirty="0">
                <a:solidFill>
                  <a:srgbClr val="464646"/>
                </a:solidFill>
                <a:effectLst/>
                <a:latin typeface="Gill Sans MT" panose="020B0502020104020203" pitchFamily="34" charset="0"/>
              </a:rPr>
              <a:t>Reportar inmediatamente  dentro de su turno de trabajo todo incidente o accidente de trabajo que sufra cause o no cause lesión alguna.</a:t>
            </a:r>
          </a:p>
          <a:p>
            <a:pPr algn="just"/>
            <a:r>
              <a:rPr lang="es-ES" sz="2000" b="0" i="0" dirty="0">
                <a:solidFill>
                  <a:srgbClr val="464646"/>
                </a:solidFill>
                <a:effectLst/>
                <a:latin typeface="Gill Sans MT" panose="020B0502020104020203" pitchFamily="34" charset="0"/>
              </a:rPr>
              <a:t>Realizar el pago de la seguridad social y entregar los soportes</a:t>
            </a:r>
          </a:p>
        </p:txBody>
      </p:sp>
      <p:sp>
        <p:nvSpPr>
          <p:cNvPr id="3" name="CuadroTexto 2">
            <a:extLst>
              <a:ext uri="{FF2B5EF4-FFF2-40B4-BE49-F238E27FC236}">
                <a16:creationId xmlns:a16="http://schemas.microsoft.com/office/drawing/2014/main" id="{56C14D71-B0B0-4A08-0255-07E9E92F7BAC}"/>
              </a:ext>
            </a:extLst>
          </p:cNvPr>
          <p:cNvSpPr txBox="1"/>
          <p:nvPr/>
        </p:nvSpPr>
        <p:spPr>
          <a:xfrm>
            <a:off x="1685178" y="793119"/>
            <a:ext cx="8556171" cy="707886"/>
          </a:xfrm>
          <a:prstGeom prst="rect">
            <a:avLst/>
          </a:prstGeom>
          <a:noFill/>
        </p:spPr>
        <p:txBody>
          <a:bodyPr wrap="square" rtlCol="0">
            <a:spAutoFit/>
          </a:bodyPr>
          <a:lstStyle/>
          <a:p>
            <a:pPr algn="ctr"/>
            <a:r>
              <a:rPr lang="es-CO" sz="4000" dirty="0">
                <a:latin typeface="Gill Sans MT" panose="020B0502020104020203" pitchFamily="34" charset="0"/>
              </a:rPr>
              <a:t>Responsabilidades de los trabajadores</a:t>
            </a:r>
          </a:p>
        </p:txBody>
      </p:sp>
      <p:pic>
        <p:nvPicPr>
          <p:cNvPr id="4" name="Imagen 3">
            <a:extLst>
              <a:ext uri="{FF2B5EF4-FFF2-40B4-BE49-F238E27FC236}">
                <a16:creationId xmlns:a16="http://schemas.microsoft.com/office/drawing/2014/main" id="{56FAEF2D-4F02-5083-0839-2C7086704E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095" y="34789"/>
            <a:ext cx="1112273" cy="1112273"/>
          </a:xfrm>
          <a:prstGeom prst="rect">
            <a:avLst/>
          </a:prstGeom>
        </p:spPr>
      </p:pic>
    </p:spTree>
    <p:extLst>
      <p:ext uri="{BB962C8B-B14F-4D97-AF65-F5344CB8AC3E}">
        <p14:creationId xmlns:p14="http://schemas.microsoft.com/office/powerpoint/2010/main" val="20378995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5FB5C-40B0-C06B-5C55-CB23CDFEB2DC}"/>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DB0F730F-EF63-3533-9792-39A9D121D6CC}"/>
              </a:ext>
            </a:extLst>
          </p:cNvPr>
          <p:cNvSpPr txBox="1"/>
          <p:nvPr/>
        </p:nvSpPr>
        <p:spPr>
          <a:xfrm>
            <a:off x="1371599" y="2316838"/>
            <a:ext cx="10095723" cy="1938992"/>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Suministrar de forma mensual los permisos de trabajo en alturas y análisis de trabajo seguro</a:t>
            </a:r>
          </a:p>
          <a:p>
            <a:pPr algn="just"/>
            <a:r>
              <a:rPr lang="es-ES" sz="2000" b="0" i="0" dirty="0">
                <a:solidFill>
                  <a:srgbClr val="464646"/>
                </a:solidFill>
                <a:effectLst/>
                <a:latin typeface="Gill Sans MT" panose="020B0502020104020203" pitchFamily="34" charset="0"/>
              </a:rPr>
              <a:t>Suministrar de forma mensual los permisos de trabajo en espacios confinados y análisis de peligro por actividad</a:t>
            </a:r>
          </a:p>
          <a:p>
            <a:pPr algn="just"/>
            <a:r>
              <a:rPr lang="es-ES" sz="2000" b="0" i="0" dirty="0">
                <a:solidFill>
                  <a:srgbClr val="464646"/>
                </a:solidFill>
                <a:effectLst/>
                <a:latin typeface="Gill Sans MT" panose="020B0502020104020203" pitchFamily="34" charset="0"/>
              </a:rPr>
              <a:t>Entregar la información solicitada respecto a uso de los elementos de protección personal</a:t>
            </a:r>
          </a:p>
          <a:p>
            <a:pPr algn="just"/>
            <a:r>
              <a:rPr lang="es-ES" sz="2000" b="0" i="0" dirty="0">
                <a:solidFill>
                  <a:srgbClr val="464646"/>
                </a:solidFill>
                <a:effectLst/>
                <a:latin typeface="Gill Sans MT" panose="020B0502020104020203" pitchFamily="34" charset="0"/>
              </a:rPr>
              <a:t>Solicitar con antelación los equipos de protección contra caídas</a:t>
            </a:r>
          </a:p>
          <a:p>
            <a:pPr algn="just"/>
            <a:r>
              <a:rPr lang="es-ES" sz="2000" dirty="0">
                <a:solidFill>
                  <a:srgbClr val="464646"/>
                </a:solidFill>
                <a:latin typeface="Gill Sans MT" panose="020B0502020104020203" pitchFamily="34" charset="0"/>
              </a:rPr>
              <a:t>Realizar el curso de las 50 horas del SGSST</a:t>
            </a:r>
            <a:endParaRPr lang="es-ES" sz="2000" b="0" i="0" dirty="0">
              <a:solidFill>
                <a:srgbClr val="464646"/>
              </a:solidFill>
              <a:effectLst/>
              <a:latin typeface="Gill Sans MT" panose="020B0502020104020203" pitchFamily="34" charset="0"/>
            </a:endParaRPr>
          </a:p>
        </p:txBody>
      </p:sp>
      <p:sp>
        <p:nvSpPr>
          <p:cNvPr id="3" name="CuadroTexto 2">
            <a:extLst>
              <a:ext uri="{FF2B5EF4-FFF2-40B4-BE49-F238E27FC236}">
                <a16:creationId xmlns:a16="http://schemas.microsoft.com/office/drawing/2014/main" id="{C5BCF452-DBFE-D969-D6DA-46C5E198E4DA}"/>
              </a:ext>
            </a:extLst>
          </p:cNvPr>
          <p:cNvSpPr txBox="1"/>
          <p:nvPr/>
        </p:nvSpPr>
        <p:spPr>
          <a:xfrm>
            <a:off x="1685178" y="793119"/>
            <a:ext cx="8556171" cy="707886"/>
          </a:xfrm>
          <a:prstGeom prst="rect">
            <a:avLst/>
          </a:prstGeom>
          <a:noFill/>
        </p:spPr>
        <p:txBody>
          <a:bodyPr wrap="square" rtlCol="0">
            <a:spAutoFit/>
          </a:bodyPr>
          <a:lstStyle/>
          <a:p>
            <a:pPr algn="ctr"/>
            <a:r>
              <a:rPr lang="es-CO" sz="4000" dirty="0">
                <a:latin typeface="Gill Sans MT" panose="020B0502020104020203" pitchFamily="34" charset="0"/>
              </a:rPr>
              <a:t>Responsabilidades de los trabajadores</a:t>
            </a:r>
          </a:p>
        </p:txBody>
      </p:sp>
      <p:pic>
        <p:nvPicPr>
          <p:cNvPr id="4" name="Imagen 3">
            <a:extLst>
              <a:ext uri="{FF2B5EF4-FFF2-40B4-BE49-F238E27FC236}">
                <a16:creationId xmlns:a16="http://schemas.microsoft.com/office/drawing/2014/main" id="{20957D58-BC92-F635-4CD5-CDFDC8006F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326" y="139395"/>
            <a:ext cx="1112273" cy="1112273"/>
          </a:xfrm>
          <a:prstGeom prst="rect">
            <a:avLst/>
          </a:prstGeom>
        </p:spPr>
      </p:pic>
    </p:spTree>
    <p:extLst>
      <p:ext uri="{BB962C8B-B14F-4D97-AF65-F5344CB8AC3E}">
        <p14:creationId xmlns:p14="http://schemas.microsoft.com/office/powerpoint/2010/main" val="22588273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292EA-065E-EA37-E76A-96719EF4A32D}"/>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0AA49962-C6AF-2054-6B53-8AE760CFF07E}"/>
              </a:ext>
            </a:extLst>
          </p:cNvPr>
          <p:cNvSpPr txBox="1"/>
          <p:nvPr/>
        </p:nvSpPr>
        <p:spPr>
          <a:xfrm>
            <a:off x="1243780" y="2012038"/>
            <a:ext cx="10095723" cy="2554545"/>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Evaluaciones Médicas Periódicas Programadas</a:t>
            </a:r>
          </a:p>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Se realizan con el fin de monitorear la exposición a factores de riesgo e identificar en forma precoz, posibles alteraciones temporales, permanentes o agravadas del estado de salud del trabajador, ocasionadas por la labor o por la exposición al medio ambiente de trabajo.</a:t>
            </a:r>
          </a:p>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Dichas evaluaciones deben ser realizadas de acuerdo con el profesiograma definido por la empresa con la asesoría de medico laboral.</a:t>
            </a:r>
          </a:p>
        </p:txBody>
      </p:sp>
      <p:sp>
        <p:nvSpPr>
          <p:cNvPr id="3" name="CuadroTexto 2">
            <a:extLst>
              <a:ext uri="{FF2B5EF4-FFF2-40B4-BE49-F238E27FC236}">
                <a16:creationId xmlns:a16="http://schemas.microsoft.com/office/drawing/2014/main" id="{372E69FF-44E2-ADBD-7014-4AD52F5D41F2}"/>
              </a:ext>
            </a:extLst>
          </p:cNvPr>
          <p:cNvSpPr txBox="1"/>
          <p:nvPr/>
        </p:nvSpPr>
        <p:spPr>
          <a:xfrm>
            <a:off x="1685178" y="793119"/>
            <a:ext cx="8556171" cy="707886"/>
          </a:xfrm>
          <a:prstGeom prst="rect">
            <a:avLst/>
          </a:prstGeom>
          <a:noFill/>
        </p:spPr>
        <p:txBody>
          <a:bodyPr wrap="square" rtlCol="0">
            <a:spAutoFit/>
          </a:bodyPr>
          <a:lstStyle/>
          <a:p>
            <a:pPr algn="ctr"/>
            <a:r>
              <a:rPr lang="es-CO" sz="4000" dirty="0">
                <a:latin typeface="Gill Sans MT" panose="020B0502020104020203" pitchFamily="34" charset="0"/>
              </a:rPr>
              <a:t>Evaluaciones médicas ocupacionales</a:t>
            </a:r>
          </a:p>
        </p:txBody>
      </p:sp>
      <p:pic>
        <p:nvPicPr>
          <p:cNvPr id="4" name="Imagen 3">
            <a:extLst>
              <a:ext uri="{FF2B5EF4-FFF2-40B4-BE49-F238E27FC236}">
                <a16:creationId xmlns:a16="http://schemas.microsoft.com/office/drawing/2014/main" id="{4292B557-9C82-6589-E6FD-6A6D792A5A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326" y="139395"/>
            <a:ext cx="1112273" cy="1112273"/>
          </a:xfrm>
          <a:prstGeom prst="rect">
            <a:avLst/>
          </a:prstGeom>
        </p:spPr>
      </p:pic>
    </p:spTree>
    <p:extLst>
      <p:ext uri="{BB962C8B-B14F-4D97-AF65-F5344CB8AC3E}">
        <p14:creationId xmlns:p14="http://schemas.microsoft.com/office/powerpoint/2010/main" val="38315133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2D6D3-3F42-DCF6-F7D3-799D441D2104}"/>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F273A74C-DCD1-36AE-1AA3-32A67D3816D8}"/>
              </a:ext>
            </a:extLst>
          </p:cNvPr>
          <p:cNvSpPr txBox="1"/>
          <p:nvPr/>
        </p:nvSpPr>
        <p:spPr>
          <a:xfrm>
            <a:off x="1243780" y="2012038"/>
            <a:ext cx="10095723" cy="3477875"/>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Evaluaciones Médicas Periódicas Programadas</a:t>
            </a:r>
          </a:p>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Actividad:</a:t>
            </a:r>
          </a:p>
          <a:p>
            <a:pPr algn="just"/>
            <a:r>
              <a:rPr lang="es-ES" sz="2000" b="0" i="0" dirty="0">
                <a:solidFill>
                  <a:srgbClr val="464646"/>
                </a:solidFill>
                <a:effectLst/>
                <a:latin typeface="Gill Sans MT" panose="020B0502020104020203" pitchFamily="34" charset="0"/>
              </a:rPr>
              <a:t>La profesional de Seguridad y Salud en el Trabajo (SST) será responsable de notificar al contratista la realización del examen médico periódico, el cual </a:t>
            </a:r>
            <a:r>
              <a:rPr lang="es-ES" sz="2000" b="1" i="0" dirty="0">
                <a:solidFill>
                  <a:srgbClr val="464646"/>
                </a:solidFill>
                <a:effectLst/>
                <a:latin typeface="Gill Sans MT" panose="020B0502020104020203" pitchFamily="34" charset="0"/>
              </a:rPr>
              <a:t>deberá efectuarse cada 18 meses, de conformidad con lo establecido en el profesiograma.</a:t>
            </a:r>
          </a:p>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El contratista tendrá la obligación de asistir a la cita programada, la cual será notificada mediante correo electrónico.</a:t>
            </a:r>
          </a:p>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El costo de los exámenes médicos periódicos será asumido por el contratante.</a:t>
            </a:r>
          </a:p>
        </p:txBody>
      </p:sp>
      <p:sp>
        <p:nvSpPr>
          <p:cNvPr id="3" name="CuadroTexto 2">
            <a:extLst>
              <a:ext uri="{FF2B5EF4-FFF2-40B4-BE49-F238E27FC236}">
                <a16:creationId xmlns:a16="http://schemas.microsoft.com/office/drawing/2014/main" id="{DA089DC8-4991-D65F-C10C-FDCE6F81CC6D}"/>
              </a:ext>
            </a:extLst>
          </p:cNvPr>
          <p:cNvSpPr txBox="1"/>
          <p:nvPr/>
        </p:nvSpPr>
        <p:spPr>
          <a:xfrm>
            <a:off x="1685178" y="793119"/>
            <a:ext cx="8556171" cy="707886"/>
          </a:xfrm>
          <a:prstGeom prst="rect">
            <a:avLst/>
          </a:prstGeom>
          <a:noFill/>
        </p:spPr>
        <p:txBody>
          <a:bodyPr wrap="square" rtlCol="0">
            <a:spAutoFit/>
          </a:bodyPr>
          <a:lstStyle/>
          <a:p>
            <a:pPr algn="ctr"/>
            <a:r>
              <a:rPr lang="es-CO" sz="4000" dirty="0">
                <a:latin typeface="Gill Sans MT" panose="020B0502020104020203" pitchFamily="34" charset="0"/>
              </a:rPr>
              <a:t>Evaluaciones médicas ocupacionales</a:t>
            </a:r>
          </a:p>
        </p:txBody>
      </p:sp>
      <p:pic>
        <p:nvPicPr>
          <p:cNvPr id="4" name="Imagen 3">
            <a:extLst>
              <a:ext uri="{FF2B5EF4-FFF2-40B4-BE49-F238E27FC236}">
                <a16:creationId xmlns:a16="http://schemas.microsoft.com/office/drawing/2014/main" id="{CDEB88C7-A647-1CA2-853F-E38D5D6BE8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326" y="139395"/>
            <a:ext cx="1112273" cy="1112273"/>
          </a:xfrm>
          <a:prstGeom prst="rect">
            <a:avLst/>
          </a:prstGeom>
        </p:spPr>
      </p:pic>
    </p:spTree>
    <p:extLst>
      <p:ext uri="{BB962C8B-B14F-4D97-AF65-F5344CB8AC3E}">
        <p14:creationId xmlns:p14="http://schemas.microsoft.com/office/powerpoint/2010/main" val="40627418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5D083-3213-08AB-05C1-F06CD7E421D0}"/>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6DDE7B48-9DB1-7F49-BD3F-2E7F4576AF4E}"/>
              </a:ext>
            </a:extLst>
          </p:cNvPr>
          <p:cNvSpPr txBox="1"/>
          <p:nvPr/>
        </p:nvSpPr>
        <p:spPr>
          <a:xfrm>
            <a:off x="1371599" y="2316838"/>
            <a:ext cx="10095723" cy="3170099"/>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EMPLEADOR:</a:t>
            </a:r>
          </a:p>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Determinar los requisitos para el uso, mantenimiento y reposición de los elementos de protección personal.</a:t>
            </a:r>
          </a:p>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Suministrar capacitación en el uso de los elementos de protección personal</a:t>
            </a:r>
          </a:p>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Vigilar el cumplimiento de las normas de seguridad y los controles de peligros que establecen el uso de los EPP</a:t>
            </a:r>
          </a:p>
          <a:p>
            <a:pPr algn="just"/>
            <a:endParaRPr lang="es-ES" sz="2000" b="0" i="0" dirty="0">
              <a:solidFill>
                <a:srgbClr val="464646"/>
              </a:solidFill>
              <a:effectLst/>
              <a:latin typeface="Gill Sans MT" panose="020B0502020104020203" pitchFamily="34" charset="0"/>
            </a:endParaRPr>
          </a:p>
        </p:txBody>
      </p:sp>
      <p:sp>
        <p:nvSpPr>
          <p:cNvPr id="3" name="CuadroTexto 2">
            <a:extLst>
              <a:ext uri="{FF2B5EF4-FFF2-40B4-BE49-F238E27FC236}">
                <a16:creationId xmlns:a16="http://schemas.microsoft.com/office/drawing/2014/main" id="{F7206C3F-202B-6730-6963-C57FC7D9DD66}"/>
              </a:ext>
            </a:extLst>
          </p:cNvPr>
          <p:cNvSpPr txBox="1"/>
          <p:nvPr/>
        </p:nvSpPr>
        <p:spPr>
          <a:xfrm>
            <a:off x="1704842" y="763622"/>
            <a:ext cx="8556171" cy="707886"/>
          </a:xfrm>
          <a:prstGeom prst="rect">
            <a:avLst/>
          </a:prstGeom>
          <a:noFill/>
        </p:spPr>
        <p:txBody>
          <a:bodyPr wrap="square" rtlCol="0">
            <a:spAutoFit/>
          </a:bodyPr>
          <a:lstStyle/>
          <a:p>
            <a:pPr algn="ctr"/>
            <a:r>
              <a:rPr lang="es-CO" sz="4000" dirty="0">
                <a:latin typeface="Gill Sans MT" panose="020B0502020104020203" pitchFamily="34" charset="0"/>
              </a:rPr>
              <a:t>Elementos de protección personal</a:t>
            </a:r>
          </a:p>
        </p:txBody>
      </p:sp>
      <p:pic>
        <p:nvPicPr>
          <p:cNvPr id="4" name="Imagen 3">
            <a:extLst>
              <a:ext uri="{FF2B5EF4-FFF2-40B4-BE49-F238E27FC236}">
                <a16:creationId xmlns:a16="http://schemas.microsoft.com/office/drawing/2014/main" id="{E622C09F-61ED-6E1B-D6FB-46BA5C535F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326" y="129561"/>
            <a:ext cx="1112273" cy="1112273"/>
          </a:xfrm>
          <a:prstGeom prst="rect">
            <a:avLst/>
          </a:prstGeom>
        </p:spPr>
      </p:pic>
    </p:spTree>
    <p:extLst>
      <p:ext uri="{BB962C8B-B14F-4D97-AF65-F5344CB8AC3E}">
        <p14:creationId xmlns:p14="http://schemas.microsoft.com/office/powerpoint/2010/main" val="10796744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4D6BC-504D-2D1F-AC01-4B70B1B4F80C}"/>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61C53BB7-695D-2E34-83C1-3F75FFFD48CF}"/>
              </a:ext>
            </a:extLst>
          </p:cNvPr>
          <p:cNvSpPr txBox="1"/>
          <p:nvPr/>
        </p:nvSpPr>
        <p:spPr>
          <a:xfrm>
            <a:off x="1371599" y="2316838"/>
            <a:ext cx="10095723" cy="1631216"/>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El trabajador independiente es responsable de adquirir, utilizar y mantener en condiciones adecuadas sus propios elementos de protección personal (EPP), en función de los riesgos asociados a su actividad laboral.</a:t>
            </a:r>
          </a:p>
          <a:p>
            <a:pPr algn="just"/>
            <a:endParaRPr lang="es-ES" sz="2000" dirty="0">
              <a:solidFill>
                <a:srgbClr val="464646"/>
              </a:solidFill>
              <a:latin typeface="Gill Sans MT" panose="020B0502020104020203" pitchFamily="34" charset="0"/>
            </a:endParaRPr>
          </a:p>
          <a:p>
            <a:pPr algn="just"/>
            <a:endParaRPr lang="es-ES" sz="2000" b="0" i="0" dirty="0">
              <a:solidFill>
                <a:srgbClr val="464646"/>
              </a:solidFill>
              <a:effectLst/>
              <a:latin typeface="Gill Sans MT" panose="020B0502020104020203" pitchFamily="34" charset="0"/>
            </a:endParaRPr>
          </a:p>
        </p:txBody>
      </p:sp>
      <p:sp>
        <p:nvSpPr>
          <p:cNvPr id="3" name="CuadroTexto 2">
            <a:extLst>
              <a:ext uri="{FF2B5EF4-FFF2-40B4-BE49-F238E27FC236}">
                <a16:creationId xmlns:a16="http://schemas.microsoft.com/office/drawing/2014/main" id="{24424EDC-7142-2095-3670-873025F39AAD}"/>
              </a:ext>
            </a:extLst>
          </p:cNvPr>
          <p:cNvSpPr txBox="1"/>
          <p:nvPr/>
        </p:nvSpPr>
        <p:spPr>
          <a:xfrm>
            <a:off x="1704842" y="763622"/>
            <a:ext cx="8556171" cy="707886"/>
          </a:xfrm>
          <a:prstGeom prst="rect">
            <a:avLst/>
          </a:prstGeom>
          <a:noFill/>
        </p:spPr>
        <p:txBody>
          <a:bodyPr wrap="square" rtlCol="0">
            <a:spAutoFit/>
          </a:bodyPr>
          <a:lstStyle/>
          <a:p>
            <a:pPr algn="ctr"/>
            <a:r>
              <a:rPr lang="es-CO" sz="4000" dirty="0">
                <a:latin typeface="Gill Sans MT" panose="020B0502020104020203" pitchFamily="34" charset="0"/>
              </a:rPr>
              <a:t>Elementos de protección personal</a:t>
            </a:r>
          </a:p>
        </p:txBody>
      </p:sp>
      <p:pic>
        <p:nvPicPr>
          <p:cNvPr id="4" name="Imagen 3">
            <a:extLst>
              <a:ext uri="{FF2B5EF4-FFF2-40B4-BE49-F238E27FC236}">
                <a16:creationId xmlns:a16="http://schemas.microsoft.com/office/drawing/2014/main" id="{2394A13C-3934-A940-D4B1-C04549F6AC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326" y="109898"/>
            <a:ext cx="1112273" cy="1112273"/>
          </a:xfrm>
          <a:prstGeom prst="rect">
            <a:avLst/>
          </a:prstGeom>
        </p:spPr>
      </p:pic>
    </p:spTree>
    <p:extLst>
      <p:ext uri="{BB962C8B-B14F-4D97-AF65-F5344CB8AC3E}">
        <p14:creationId xmlns:p14="http://schemas.microsoft.com/office/powerpoint/2010/main" val="21173818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9C5FF-FE87-E94E-EA0C-D88834AFF2B0}"/>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E688B3C1-17BF-5E29-3F9A-D22391DB316C}"/>
              </a:ext>
            </a:extLst>
          </p:cNvPr>
          <p:cNvSpPr txBox="1"/>
          <p:nvPr/>
        </p:nvSpPr>
        <p:spPr>
          <a:xfrm>
            <a:off x="1371599" y="2316838"/>
            <a:ext cx="10095723" cy="3477875"/>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Protección para la cabeza: Norma NTC 1523 de 2012 y ANSI/SEA Z89.1:2014</a:t>
            </a:r>
          </a:p>
          <a:p>
            <a:pPr algn="just"/>
            <a:r>
              <a:rPr lang="es-ES" sz="2000" b="0" i="0" dirty="0">
                <a:solidFill>
                  <a:srgbClr val="464646"/>
                </a:solidFill>
                <a:effectLst/>
                <a:latin typeface="Gill Sans MT" panose="020B0502020104020203" pitchFamily="34" charset="0"/>
              </a:rPr>
              <a:t>Protección auditiva: Protectores auditivos: Norma ANSI S3.19-1974.  ANSI/ASA S12.6-2016. UNE-EN 352-2:2003. NTC 2272</a:t>
            </a:r>
          </a:p>
          <a:p>
            <a:pPr algn="just"/>
            <a:r>
              <a:rPr lang="es-ES" sz="2000" b="0" i="0" dirty="0">
                <a:solidFill>
                  <a:srgbClr val="464646"/>
                </a:solidFill>
                <a:effectLst/>
                <a:latin typeface="Gill Sans MT" panose="020B0502020104020203" pitchFamily="34" charset="0"/>
              </a:rPr>
              <a:t>Protección ojos: gafas de seguridad Norma ANSI Z87.1-2003</a:t>
            </a:r>
          </a:p>
          <a:p>
            <a:pPr algn="just"/>
            <a:r>
              <a:rPr lang="es-ES" sz="2000" b="0" i="0" dirty="0">
                <a:solidFill>
                  <a:srgbClr val="464646"/>
                </a:solidFill>
                <a:effectLst/>
                <a:latin typeface="Gill Sans MT" panose="020B0502020104020203" pitchFamily="34" charset="0"/>
              </a:rPr>
              <a:t>Protección del sistema respiratorio: Norma OHSA 29 CFR 1910.134 NIOSH, 42CFR parte 84 - 1995</a:t>
            </a:r>
          </a:p>
          <a:p>
            <a:pPr algn="just"/>
            <a:r>
              <a:rPr lang="es-ES" sz="2000" b="0" i="0" dirty="0">
                <a:solidFill>
                  <a:srgbClr val="464646"/>
                </a:solidFill>
                <a:effectLst/>
                <a:latin typeface="Gill Sans MT" panose="020B0502020104020203" pitchFamily="34" charset="0"/>
              </a:rPr>
              <a:t>Protección de manos: guantes EN 420: 2003 + A1:2009.</a:t>
            </a:r>
          </a:p>
          <a:p>
            <a:pPr algn="just"/>
            <a:r>
              <a:rPr lang="es-ES" sz="2000" b="0" i="0" dirty="0">
                <a:solidFill>
                  <a:srgbClr val="464646"/>
                </a:solidFill>
                <a:effectLst/>
                <a:latin typeface="Gill Sans MT" panose="020B0502020104020203" pitchFamily="34" charset="0"/>
              </a:rPr>
              <a:t>Protección de los pies: Calzado de seguridad: Norma ISO 20345:2005. ASTM2412 NTC4804.2000, NTC4811.2000, NTC2038.1995, EN12568-S</a:t>
            </a:r>
          </a:p>
          <a:p>
            <a:pPr algn="just"/>
            <a:endParaRPr lang="es-ES" sz="2000" dirty="0">
              <a:solidFill>
                <a:srgbClr val="464646"/>
              </a:solidFill>
              <a:latin typeface="Gill Sans MT" panose="020B0502020104020203" pitchFamily="34" charset="0"/>
            </a:endParaRPr>
          </a:p>
          <a:p>
            <a:pPr algn="just"/>
            <a:endParaRPr lang="es-ES" sz="2000" b="0" i="0" dirty="0">
              <a:solidFill>
                <a:srgbClr val="464646"/>
              </a:solidFill>
              <a:effectLst/>
              <a:latin typeface="Gill Sans MT" panose="020B0502020104020203" pitchFamily="34" charset="0"/>
            </a:endParaRPr>
          </a:p>
        </p:txBody>
      </p:sp>
      <p:sp>
        <p:nvSpPr>
          <p:cNvPr id="3" name="CuadroTexto 2">
            <a:extLst>
              <a:ext uri="{FF2B5EF4-FFF2-40B4-BE49-F238E27FC236}">
                <a16:creationId xmlns:a16="http://schemas.microsoft.com/office/drawing/2014/main" id="{A4B71DE9-1ACD-55F3-7B2A-92454276013E}"/>
              </a:ext>
            </a:extLst>
          </p:cNvPr>
          <p:cNvSpPr txBox="1"/>
          <p:nvPr/>
        </p:nvSpPr>
        <p:spPr>
          <a:xfrm>
            <a:off x="2058803" y="842280"/>
            <a:ext cx="8556171" cy="707886"/>
          </a:xfrm>
          <a:prstGeom prst="rect">
            <a:avLst/>
          </a:prstGeom>
          <a:noFill/>
        </p:spPr>
        <p:txBody>
          <a:bodyPr wrap="square" rtlCol="0">
            <a:spAutoFit/>
          </a:bodyPr>
          <a:lstStyle/>
          <a:p>
            <a:pPr algn="ctr"/>
            <a:r>
              <a:rPr lang="es-CO" sz="4000" dirty="0">
                <a:latin typeface="Gill Sans MT" panose="020B0502020104020203" pitchFamily="34" charset="0"/>
              </a:rPr>
              <a:t>Elementos de protección personal</a:t>
            </a:r>
          </a:p>
        </p:txBody>
      </p:sp>
      <p:pic>
        <p:nvPicPr>
          <p:cNvPr id="4" name="Imagen 3">
            <a:extLst>
              <a:ext uri="{FF2B5EF4-FFF2-40B4-BE49-F238E27FC236}">
                <a16:creationId xmlns:a16="http://schemas.microsoft.com/office/drawing/2014/main" id="{6FAF5645-7648-0DA3-5357-D5F85BB4EF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326" y="83950"/>
            <a:ext cx="1112273" cy="1112273"/>
          </a:xfrm>
          <a:prstGeom prst="rect">
            <a:avLst/>
          </a:prstGeom>
        </p:spPr>
      </p:pic>
    </p:spTree>
    <p:extLst>
      <p:ext uri="{BB962C8B-B14F-4D97-AF65-F5344CB8AC3E}">
        <p14:creationId xmlns:p14="http://schemas.microsoft.com/office/powerpoint/2010/main" val="27488122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12941-1222-C384-341D-B6B532757D43}"/>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30E33616-7A9D-5169-6EC3-81FD2FB7D163}"/>
              </a:ext>
            </a:extLst>
          </p:cNvPr>
          <p:cNvSpPr txBox="1"/>
          <p:nvPr/>
        </p:nvSpPr>
        <p:spPr>
          <a:xfrm>
            <a:off x="1371599" y="2316838"/>
            <a:ext cx="10095723" cy="2862322"/>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Los equipos de protección individual requeridos para trabajo en alturas deberán ser solicitados a través del correo electrónico </a:t>
            </a:r>
            <a:r>
              <a:rPr lang="es-ES" sz="2000" b="0" i="0" dirty="0">
                <a:solidFill>
                  <a:srgbClr val="464646"/>
                </a:solidFill>
                <a:effectLst/>
                <a:latin typeface="Gill Sans MT" panose="020B0502020104020203" pitchFamily="34" charset="0"/>
                <a:hlinkClick r:id="rId2"/>
              </a:rPr>
              <a:t>sistemadegestion@obrain.com</a:t>
            </a:r>
            <a:r>
              <a:rPr lang="es-ES" sz="2000" b="0" i="0" dirty="0">
                <a:solidFill>
                  <a:srgbClr val="464646"/>
                </a:solidFill>
                <a:effectLst/>
                <a:latin typeface="Gill Sans MT" panose="020B0502020104020203" pitchFamily="34" charset="0"/>
              </a:rPr>
              <a:t>, en el cual se deberá suministrar la siguiente información:</a:t>
            </a:r>
          </a:p>
          <a:p>
            <a:pPr algn="just"/>
            <a:endParaRPr lang="es-ES" sz="2000" dirty="0">
              <a:solidFill>
                <a:srgbClr val="464646"/>
              </a:solidFill>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Descripción de la actividad y las tareas a realizar en alturas</a:t>
            </a:r>
          </a:p>
          <a:p>
            <a:pPr algn="just"/>
            <a:r>
              <a:rPr lang="es-ES" sz="2000" dirty="0">
                <a:solidFill>
                  <a:srgbClr val="464646"/>
                </a:solidFill>
                <a:latin typeface="Gill Sans MT" panose="020B0502020104020203" pitchFamily="34" charset="0"/>
              </a:rPr>
              <a:t>Altura máxima a la que se encontrara en la actividad</a:t>
            </a:r>
          </a:p>
          <a:p>
            <a:pPr algn="just"/>
            <a:r>
              <a:rPr lang="es-ES" sz="2000" b="0" i="0" dirty="0">
                <a:solidFill>
                  <a:srgbClr val="464646"/>
                </a:solidFill>
                <a:effectLst/>
                <a:latin typeface="Gill Sans MT" panose="020B0502020104020203" pitchFamily="34" charset="0"/>
              </a:rPr>
              <a:t>Sistema de acceso utilizado</a:t>
            </a:r>
          </a:p>
          <a:p>
            <a:pPr algn="just"/>
            <a:endParaRPr lang="es-ES" sz="2000" dirty="0">
              <a:solidFill>
                <a:srgbClr val="464646"/>
              </a:solidFill>
              <a:latin typeface="Gill Sans MT" panose="020B0502020104020203" pitchFamily="34" charset="0"/>
            </a:endParaRPr>
          </a:p>
          <a:p>
            <a:pPr algn="just"/>
            <a:endParaRPr lang="es-ES" sz="2000" b="0" i="0" dirty="0">
              <a:solidFill>
                <a:srgbClr val="464646"/>
              </a:solidFill>
              <a:effectLst/>
              <a:latin typeface="Gill Sans MT" panose="020B0502020104020203" pitchFamily="34" charset="0"/>
            </a:endParaRPr>
          </a:p>
        </p:txBody>
      </p:sp>
      <p:sp>
        <p:nvSpPr>
          <p:cNvPr id="3" name="CuadroTexto 2">
            <a:extLst>
              <a:ext uri="{FF2B5EF4-FFF2-40B4-BE49-F238E27FC236}">
                <a16:creationId xmlns:a16="http://schemas.microsoft.com/office/drawing/2014/main" id="{7627843B-AC9C-8BD3-3E08-C0ADD38A0FAF}"/>
              </a:ext>
            </a:extLst>
          </p:cNvPr>
          <p:cNvSpPr txBox="1"/>
          <p:nvPr/>
        </p:nvSpPr>
        <p:spPr>
          <a:xfrm>
            <a:off x="2058803" y="842280"/>
            <a:ext cx="8556171" cy="707886"/>
          </a:xfrm>
          <a:prstGeom prst="rect">
            <a:avLst/>
          </a:prstGeom>
          <a:noFill/>
        </p:spPr>
        <p:txBody>
          <a:bodyPr wrap="square" rtlCol="0">
            <a:spAutoFit/>
          </a:bodyPr>
          <a:lstStyle/>
          <a:p>
            <a:pPr algn="ctr"/>
            <a:r>
              <a:rPr lang="es-CO" sz="4000" dirty="0">
                <a:latin typeface="Gill Sans MT" panose="020B0502020104020203" pitchFamily="34" charset="0"/>
              </a:rPr>
              <a:t>Equipos de protección individual</a:t>
            </a:r>
          </a:p>
        </p:txBody>
      </p:sp>
      <p:pic>
        <p:nvPicPr>
          <p:cNvPr id="4" name="Imagen 3">
            <a:extLst>
              <a:ext uri="{FF2B5EF4-FFF2-40B4-BE49-F238E27FC236}">
                <a16:creationId xmlns:a16="http://schemas.microsoft.com/office/drawing/2014/main" id="{BC0BE25C-820A-44D1-AFC5-2EC1E82527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326" y="83950"/>
            <a:ext cx="1112273" cy="1112273"/>
          </a:xfrm>
          <a:prstGeom prst="rect">
            <a:avLst/>
          </a:prstGeom>
        </p:spPr>
      </p:pic>
    </p:spTree>
    <p:extLst>
      <p:ext uri="{BB962C8B-B14F-4D97-AF65-F5344CB8AC3E}">
        <p14:creationId xmlns:p14="http://schemas.microsoft.com/office/powerpoint/2010/main" val="38491380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F1E14-A41B-1DD3-79BA-3BEAF820C829}"/>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5AD3561A-5086-BECB-27B4-63492B2C08CE}"/>
              </a:ext>
            </a:extLst>
          </p:cNvPr>
          <p:cNvSpPr txBox="1"/>
          <p:nvPr/>
        </p:nvSpPr>
        <p:spPr>
          <a:xfrm>
            <a:off x="1371599" y="2316838"/>
            <a:ext cx="10095723" cy="2862322"/>
          </a:xfrm>
          <a:prstGeom prst="rect">
            <a:avLst/>
          </a:prstGeom>
          <a:noFill/>
        </p:spPr>
        <p:txBody>
          <a:bodyPr wrap="square" rtlCol="0">
            <a:spAutoFit/>
          </a:bodyPr>
          <a:lstStyle/>
          <a:p>
            <a:pPr algn="just"/>
            <a:r>
              <a:rPr lang="es-ES" sz="2000" dirty="0">
                <a:solidFill>
                  <a:srgbClr val="464646"/>
                </a:solidFill>
                <a:latin typeface="Gill Sans MT" panose="020B0502020104020203" pitchFamily="34" charset="0"/>
              </a:rPr>
              <a:t>Durante el proceso de inducción en la obra, preste atención a las indicaciones especificas, identifique:</a:t>
            </a:r>
          </a:p>
          <a:p>
            <a:pPr algn="just"/>
            <a:endParaRPr lang="es-ES" sz="2000" b="0" i="0" dirty="0">
              <a:solidFill>
                <a:srgbClr val="464646"/>
              </a:solidFill>
              <a:effectLst/>
              <a:latin typeface="Gill Sans MT" panose="020B0502020104020203" pitchFamily="34" charset="0"/>
            </a:endParaRPr>
          </a:p>
          <a:p>
            <a:pPr algn="just"/>
            <a:r>
              <a:rPr lang="es-ES" sz="2000" dirty="0">
                <a:solidFill>
                  <a:srgbClr val="464646"/>
                </a:solidFill>
                <a:latin typeface="Gill Sans MT" panose="020B0502020104020203" pitchFamily="34" charset="0"/>
              </a:rPr>
              <a:t>Rutas de evacuación</a:t>
            </a:r>
          </a:p>
          <a:p>
            <a:pPr algn="just"/>
            <a:r>
              <a:rPr lang="es-ES" sz="2000" b="0" i="0" dirty="0">
                <a:solidFill>
                  <a:srgbClr val="464646"/>
                </a:solidFill>
                <a:effectLst/>
                <a:latin typeface="Gill Sans MT" panose="020B0502020104020203" pitchFamily="34" charset="0"/>
              </a:rPr>
              <a:t>Puntos de encuentro</a:t>
            </a:r>
          </a:p>
          <a:p>
            <a:pPr algn="just"/>
            <a:r>
              <a:rPr lang="es-ES" sz="2000" dirty="0">
                <a:solidFill>
                  <a:srgbClr val="464646"/>
                </a:solidFill>
                <a:latin typeface="Gill Sans MT" panose="020B0502020104020203" pitchFamily="34" charset="0"/>
              </a:rPr>
              <a:t>Áreas para la atención de primeros auxilios</a:t>
            </a:r>
          </a:p>
          <a:p>
            <a:pPr algn="just"/>
            <a:r>
              <a:rPr lang="es-ES" sz="2000" b="0" i="0" dirty="0">
                <a:solidFill>
                  <a:srgbClr val="464646"/>
                </a:solidFill>
                <a:effectLst/>
                <a:latin typeface="Gill Sans MT" panose="020B0502020104020203" pitchFamily="34" charset="0"/>
              </a:rPr>
              <a:t>Reconoce los tonos de aler</a:t>
            </a:r>
            <a:r>
              <a:rPr lang="es-ES" sz="2000" dirty="0">
                <a:solidFill>
                  <a:srgbClr val="464646"/>
                </a:solidFill>
                <a:latin typeface="Gill Sans MT" panose="020B0502020104020203" pitchFamily="34" charset="0"/>
              </a:rPr>
              <a:t>t</a:t>
            </a:r>
            <a:r>
              <a:rPr lang="es-ES" sz="2000" b="0" i="0" dirty="0">
                <a:solidFill>
                  <a:srgbClr val="464646"/>
                </a:solidFill>
                <a:effectLst/>
                <a:latin typeface="Gill Sans MT" panose="020B0502020104020203" pitchFamily="34" charset="0"/>
              </a:rPr>
              <a:t>a y alarma</a:t>
            </a:r>
          </a:p>
          <a:p>
            <a:pPr algn="just"/>
            <a:endParaRPr lang="es-ES" sz="2000" dirty="0">
              <a:solidFill>
                <a:srgbClr val="464646"/>
              </a:solidFill>
              <a:latin typeface="Gill Sans MT" panose="020B0502020104020203" pitchFamily="34" charset="0"/>
            </a:endParaRPr>
          </a:p>
          <a:p>
            <a:pPr algn="just"/>
            <a:endParaRPr lang="es-ES" sz="2000" b="0" i="0" dirty="0">
              <a:solidFill>
                <a:srgbClr val="464646"/>
              </a:solidFill>
              <a:effectLst/>
              <a:latin typeface="Gill Sans MT" panose="020B0502020104020203" pitchFamily="34" charset="0"/>
            </a:endParaRPr>
          </a:p>
        </p:txBody>
      </p:sp>
      <p:sp>
        <p:nvSpPr>
          <p:cNvPr id="3" name="CuadroTexto 2">
            <a:extLst>
              <a:ext uri="{FF2B5EF4-FFF2-40B4-BE49-F238E27FC236}">
                <a16:creationId xmlns:a16="http://schemas.microsoft.com/office/drawing/2014/main" id="{4BA25C54-A6A3-C0B7-D325-6293C0BE71DC}"/>
              </a:ext>
            </a:extLst>
          </p:cNvPr>
          <p:cNvSpPr txBox="1"/>
          <p:nvPr/>
        </p:nvSpPr>
        <p:spPr>
          <a:xfrm>
            <a:off x="2058803" y="842280"/>
            <a:ext cx="8556171" cy="707886"/>
          </a:xfrm>
          <a:prstGeom prst="rect">
            <a:avLst/>
          </a:prstGeom>
          <a:noFill/>
        </p:spPr>
        <p:txBody>
          <a:bodyPr wrap="square" rtlCol="0">
            <a:spAutoFit/>
          </a:bodyPr>
          <a:lstStyle/>
          <a:p>
            <a:pPr algn="ctr"/>
            <a:r>
              <a:rPr lang="es-CO" sz="4000" dirty="0">
                <a:latin typeface="Gill Sans MT" panose="020B0502020104020203" pitchFamily="34" charset="0"/>
              </a:rPr>
              <a:t>Atención de emergencias</a:t>
            </a:r>
          </a:p>
        </p:txBody>
      </p:sp>
      <p:pic>
        <p:nvPicPr>
          <p:cNvPr id="4" name="Imagen 3">
            <a:extLst>
              <a:ext uri="{FF2B5EF4-FFF2-40B4-BE49-F238E27FC236}">
                <a16:creationId xmlns:a16="http://schemas.microsoft.com/office/drawing/2014/main" id="{4B83F134-BCD8-8FC7-EA86-94185D9D9D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326" y="83950"/>
            <a:ext cx="1112273" cy="1112273"/>
          </a:xfrm>
          <a:prstGeom prst="rect">
            <a:avLst/>
          </a:prstGeom>
        </p:spPr>
      </p:pic>
    </p:spTree>
    <p:extLst>
      <p:ext uri="{BB962C8B-B14F-4D97-AF65-F5344CB8AC3E}">
        <p14:creationId xmlns:p14="http://schemas.microsoft.com/office/powerpoint/2010/main" val="22262486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47671-CB5B-A3CB-9A82-B410065EF3FA}"/>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8085C3DD-AA7B-9ACD-A598-1F0E0D371B7B}"/>
              </a:ext>
            </a:extLst>
          </p:cNvPr>
          <p:cNvSpPr txBox="1"/>
          <p:nvPr/>
        </p:nvSpPr>
        <p:spPr>
          <a:xfrm>
            <a:off x="1371599" y="2316838"/>
            <a:ext cx="10095723" cy="3477875"/>
          </a:xfrm>
          <a:prstGeom prst="rect">
            <a:avLst/>
          </a:prstGeom>
          <a:noFill/>
        </p:spPr>
        <p:txBody>
          <a:bodyPr wrap="square" rtlCol="0">
            <a:spAutoFit/>
          </a:bodyPr>
          <a:lstStyle/>
          <a:p>
            <a:pPr algn="just"/>
            <a:r>
              <a:rPr lang="es-ES" sz="2000" dirty="0">
                <a:solidFill>
                  <a:srgbClr val="464646"/>
                </a:solidFill>
                <a:latin typeface="Gill Sans MT" panose="020B0502020104020203" pitchFamily="34" charset="0"/>
              </a:rPr>
              <a:t>Tenga en cuenta las siguientes recomendaciones al evacuar:</a:t>
            </a:r>
          </a:p>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Suspende toda actividad</a:t>
            </a:r>
          </a:p>
          <a:p>
            <a:pPr algn="just"/>
            <a:r>
              <a:rPr lang="es-ES" sz="2000" b="0" i="0" dirty="0">
                <a:solidFill>
                  <a:srgbClr val="464646"/>
                </a:solidFill>
                <a:effectLst/>
                <a:latin typeface="Gill Sans MT" panose="020B0502020104020203" pitchFamily="34" charset="0"/>
              </a:rPr>
              <a:t>Asegúrate en lo posible de llevar tus documentos</a:t>
            </a:r>
          </a:p>
          <a:p>
            <a:pPr algn="just"/>
            <a:r>
              <a:rPr lang="es-ES" sz="2000" dirty="0">
                <a:solidFill>
                  <a:srgbClr val="464646"/>
                </a:solidFill>
                <a:latin typeface="Gill Sans MT" panose="020B0502020104020203" pitchFamily="34" charset="0"/>
              </a:rPr>
              <a:t>Sal de acuerdo a lo indicado usando las rutas de evacuación</a:t>
            </a:r>
          </a:p>
          <a:p>
            <a:pPr algn="just"/>
            <a:r>
              <a:rPr lang="es-ES" sz="2000" b="0" i="0" dirty="0">
                <a:solidFill>
                  <a:srgbClr val="464646"/>
                </a:solidFill>
                <a:effectLst/>
                <a:latin typeface="Gill Sans MT" panose="020B0502020104020203" pitchFamily="34" charset="0"/>
              </a:rPr>
              <a:t>Mantén</a:t>
            </a:r>
            <a:r>
              <a:rPr lang="es-ES" sz="2000" dirty="0">
                <a:solidFill>
                  <a:srgbClr val="464646"/>
                </a:solidFill>
                <a:latin typeface="Gill Sans MT" panose="020B0502020104020203" pitchFamily="34" charset="0"/>
              </a:rPr>
              <a:t> la calma, no corras ni grites</a:t>
            </a:r>
          </a:p>
          <a:p>
            <a:pPr algn="just"/>
            <a:r>
              <a:rPr lang="es-ES" sz="2000" b="0" i="0" dirty="0">
                <a:solidFill>
                  <a:srgbClr val="464646"/>
                </a:solidFill>
                <a:effectLst/>
                <a:latin typeface="Gill Sans MT" panose="020B0502020104020203" pitchFamily="34" charset="0"/>
              </a:rPr>
              <a:t>Ubícate en el punto de encuentro</a:t>
            </a:r>
          </a:p>
          <a:p>
            <a:pPr algn="just"/>
            <a:r>
              <a:rPr lang="es-ES" sz="2000" dirty="0">
                <a:solidFill>
                  <a:srgbClr val="464646"/>
                </a:solidFill>
                <a:latin typeface="Gill Sans MT" panose="020B0502020104020203" pitchFamily="34" charset="0"/>
              </a:rPr>
              <a:t>Permanece atento a las indicaciones del personal en obra</a:t>
            </a:r>
            <a:endParaRPr lang="es-ES" sz="2000" b="0" i="0" dirty="0">
              <a:solidFill>
                <a:srgbClr val="464646"/>
              </a:solidFill>
              <a:effectLst/>
              <a:latin typeface="Gill Sans MT" panose="020B0502020104020203" pitchFamily="34" charset="0"/>
            </a:endParaRPr>
          </a:p>
          <a:p>
            <a:pPr algn="just"/>
            <a:endParaRPr lang="es-ES" sz="2000" b="0" i="0" dirty="0">
              <a:solidFill>
                <a:srgbClr val="464646"/>
              </a:solidFill>
              <a:effectLst/>
              <a:latin typeface="Gill Sans MT" panose="020B0502020104020203" pitchFamily="34" charset="0"/>
            </a:endParaRPr>
          </a:p>
          <a:p>
            <a:pPr algn="just"/>
            <a:endParaRPr lang="es-ES" sz="2000" dirty="0">
              <a:solidFill>
                <a:srgbClr val="464646"/>
              </a:solidFill>
              <a:latin typeface="Gill Sans MT" panose="020B0502020104020203" pitchFamily="34" charset="0"/>
            </a:endParaRPr>
          </a:p>
          <a:p>
            <a:pPr algn="just"/>
            <a:endParaRPr lang="es-ES" sz="2000" b="0" i="0" dirty="0">
              <a:solidFill>
                <a:srgbClr val="464646"/>
              </a:solidFill>
              <a:effectLst/>
              <a:latin typeface="Gill Sans MT" panose="020B0502020104020203" pitchFamily="34" charset="0"/>
            </a:endParaRPr>
          </a:p>
        </p:txBody>
      </p:sp>
      <p:sp>
        <p:nvSpPr>
          <p:cNvPr id="3" name="CuadroTexto 2">
            <a:extLst>
              <a:ext uri="{FF2B5EF4-FFF2-40B4-BE49-F238E27FC236}">
                <a16:creationId xmlns:a16="http://schemas.microsoft.com/office/drawing/2014/main" id="{5BAB2F2B-90FF-FD1A-3D38-194019F7F1EA}"/>
              </a:ext>
            </a:extLst>
          </p:cNvPr>
          <p:cNvSpPr txBox="1"/>
          <p:nvPr/>
        </p:nvSpPr>
        <p:spPr>
          <a:xfrm>
            <a:off x="2058803" y="842280"/>
            <a:ext cx="8556171" cy="707886"/>
          </a:xfrm>
          <a:prstGeom prst="rect">
            <a:avLst/>
          </a:prstGeom>
          <a:noFill/>
        </p:spPr>
        <p:txBody>
          <a:bodyPr wrap="square" rtlCol="0">
            <a:spAutoFit/>
          </a:bodyPr>
          <a:lstStyle/>
          <a:p>
            <a:pPr algn="ctr"/>
            <a:r>
              <a:rPr lang="es-CO" sz="4000" dirty="0">
                <a:latin typeface="Gill Sans MT" panose="020B0502020104020203" pitchFamily="34" charset="0"/>
              </a:rPr>
              <a:t>Atención de emergencias</a:t>
            </a:r>
          </a:p>
        </p:txBody>
      </p:sp>
      <p:pic>
        <p:nvPicPr>
          <p:cNvPr id="4" name="Imagen 3">
            <a:extLst>
              <a:ext uri="{FF2B5EF4-FFF2-40B4-BE49-F238E27FC236}">
                <a16:creationId xmlns:a16="http://schemas.microsoft.com/office/drawing/2014/main" id="{61C68370-8E0A-B6EB-D617-4A720168A8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326" y="83950"/>
            <a:ext cx="1112273" cy="1112273"/>
          </a:xfrm>
          <a:prstGeom prst="rect">
            <a:avLst/>
          </a:prstGeom>
        </p:spPr>
      </p:pic>
    </p:spTree>
    <p:extLst>
      <p:ext uri="{BB962C8B-B14F-4D97-AF65-F5344CB8AC3E}">
        <p14:creationId xmlns:p14="http://schemas.microsoft.com/office/powerpoint/2010/main" val="28988414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312C3-33BF-9640-CA30-D9CBBFE46393}"/>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BC6230AA-348B-28EC-3EFD-CC61B4D0FE68}"/>
              </a:ext>
            </a:extLst>
          </p:cNvPr>
          <p:cNvSpPr txBox="1"/>
          <p:nvPr/>
        </p:nvSpPr>
        <p:spPr>
          <a:xfrm>
            <a:off x="1371599" y="2316838"/>
            <a:ext cx="10095723" cy="2554545"/>
          </a:xfrm>
          <a:prstGeom prst="rect">
            <a:avLst/>
          </a:prstGeom>
          <a:noFill/>
        </p:spPr>
        <p:txBody>
          <a:bodyPr wrap="square" rtlCol="0">
            <a:spAutoFit/>
          </a:bodyPr>
          <a:lstStyle/>
          <a:p>
            <a:pPr algn="just"/>
            <a:r>
              <a:rPr lang="es-ES" sz="2000" dirty="0">
                <a:solidFill>
                  <a:srgbClr val="464646"/>
                </a:solidFill>
                <a:latin typeface="Gill Sans MT" panose="020B0502020104020203" pitchFamily="34" charset="0"/>
              </a:rPr>
              <a:t>Después de la emergencia:</a:t>
            </a:r>
          </a:p>
          <a:p>
            <a:pPr algn="just"/>
            <a:endParaRPr lang="es-ES" sz="2000" b="0" i="0" dirty="0">
              <a:solidFill>
                <a:srgbClr val="464646"/>
              </a:solidFill>
              <a:effectLst/>
              <a:latin typeface="Gill Sans MT" panose="020B0502020104020203" pitchFamily="34" charset="0"/>
            </a:endParaRPr>
          </a:p>
          <a:p>
            <a:pPr algn="just"/>
            <a:r>
              <a:rPr lang="es-ES" sz="2000" dirty="0">
                <a:solidFill>
                  <a:srgbClr val="464646"/>
                </a:solidFill>
                <a:latin typeface="Gill Sans MT" panose="020B0502020104020203" pitchFamily="34" charset="0"/>
              </a:rPr>
              <a:t>Evalúa si necesitas atención medica, en caso de ser así,  realiza el reporte a la ARL COLMENA</a:t>
            </a:r>
          </a:p>
          <a:p>
            <a:pPr algn="just"/>
            <a:r>
              <a:rPr lang="es-ES" sz="2000" b="0" i="0" dirty="0">
                <a:solidFill>
                  <a:srgbClr val="464646"/>
                </a:solidFill>
                <a:effectLst/>
                <a:latin typeface="Gill Sans MT" panose="020B0502020104020203" pitchFamily="34" charset="0"/>
              </a:rPr>
              <a:t>Envía un correo electrónico a </a:t>
            </a:r>
            <a:r>
              <a:rPr lang="es-ES" sz="2000" b="0" i="0" dirty="0">
                <a:solidFill>
                  <a:srgbClr val="464646"/>
                </a:solidFill>
                <a:effectLst/>
                <a:latin typeface="Gill Sans MT" panose="020B0502020104020203" pitchFamily="34" charset="0"/>
                <a:hlinkClick r:id="rId2"/>
              </a:rPr>
              <a:t>sistemadegestionobrain@gmail.com</a:t>
            </a:r>
            <a:endParaRPr lang="es-ES" sz="2000" b="0" i="0" dirty="0">
              <a:solidFill>
                <a:srgbClr val="464646"/>
              </a:solidFill>
              <a:effectLst/>
              <a:latin typeface="Gill Sans MT" panose="020B0502020104020203" pitchFamily="34" charset="0"/>
            </a:endParaRPr>
          </a:p>
          <a:p>
            <a:pPr algn="just"/>
            <a:endParaRPr lang="es-ES" sz="2000" b="0" i="0" dirty="0">
              <a:solidFill>
                <a:srgbClr val="464646"/>
              </a:solidFill>
              <a:effectLst/>
              <a:latin typeface="Gill Sans MT" panose="020B0502020104020203" pitchFamily="34" charset="0"/>
            </a:endParaRPr>
          </a:p>
          <a:p>
            <a:pPr algn="just"/>
            <a:endParaRPr lang="es-ES" sz="2000" b="0" i="0" dirty="0">
              <a:solidFill>
                <a:srgbClr val="464646"/>
              </a:solidFill>
              <a:effectLst/>
              <a:latin typeface="Gill Sans MT" panose="020B0502020104020203" pitchFamily="34" charset="0"/>
            </a:endParaRPr>
          </a:p>
          <a:p>
            <a:pPr algn="just"/>
            <a:endParaRPr lang="es-ES" sz="2000" dirty="0">
              <a:solidFill>
                <a:srgbClr val="464646"/>
              </a:solidFill>
              <a:latin typeface="Gill Sans MT" panose="020B0502020104020203" pitchFamily="34" charset="0"/>
            </a:endParaRPr>
          </a:p>
          <a:p>
            <a:pPr algn="just"/>
            <a:endParaRPr lang="es-ES" sz="2000" b="0" i="0" dirty="0">
              <a:solidFill>
                <a:srgbClr val="464646"/>
              </a:solidFill>
              <a:effectLst/>
              <a:latin typeface="Gill Sans MT" panose="020B0502020104020203" pitchFamily="34" charset="0"/>
            </a:endParaRPr>
          </a:p>
        </p:txBody>
      </p:sp>
      <p:sp>
        <p:nvSpPr>
          <p:cNvPr id="3" name="CuadroTexto 2">
            <a:extLst>
              <a:ext uri="{FF2B5EF4-FFF2-40B4-BE49-F238E27FC236}">
                <a16:creationId xmlns:a16="http://schemas.microsoft.com/office/drawing/2014/main" id="{7F0D144C-49A0-C21F-3C40-742E4753BE73}"/>
              </a:ext>
            </a:extLst>
          </p:cNvPr>
          <p:cNvSpPr txBox="1"/>
          <p:nvPr/>
        </p:nvSpPr>
        <p:spPr>
          <a:xfrm>
            <a:off x="2058803" y="842280"/>
            <a:ext cx="8556171" cy="707886"/>
          </a:xfrm>
          <a:prstGeom prst="rect">
            <a:avLst/>
          </a:prstGeom>
          <a:noFill/>
        </p:spPr>
        <p:txBody>
          <a:bodyPr wrap="square" rtlCol="0">
            <a:spAutoFit/>
          </a:bodyPr>
          <a:lstStyle/>
          <a:p>
            <a:pPr algn="ctr"/>
            <a:r>
              <a:rPr lang="es-CO" sz="4000" dirty="0">
                <a:latin typeface="Gill Sans MT" panose="020B0502020104020203" pitchFamily="34" charset="0"/>
              </a:rPr>
              <a:t>Atención de emergencias</a:t>
            </a:r>
          </a:p>
        </p:txBody>
      </p:sp>
      <p:pic>
        <p:nvPicPr>
          <p:cNvPr id="4" name="Imagen 3">
            <a:extLst>
              <a:ext uri="{FF2B5EF4-FFF2-40B4-BE49-F238E27FC236}">
                <a16:creationId xmlns:a16="http://schemas.microsoft.com/office/drawing/2014/main" id="{09FAA6F9-5884-AA36-41BE-9A50AD2C12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326" y="168891"/>
            <a:ext cx="1112273" cy="1112273"/>
          </a:xfrm>
          <a:prstGeom prst="rect">
            <a:avLst/>
          </a:prstGeom>
        </p:spPr>
      </p:pic>
    </p:spTree>
    <p:extLst>
      <p:ext uri="{BB962C8B-B14F-4D97-AF65-F5344CB8AC3E}">
        <p14:creationId xmlns:p14="http://schemas.microsoft.com/office/powerpoint/2010/main" val="14558101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5412D-6DF3-454D-AF64-8AA48434DE7D}"/>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7B90A141-2C9E-0DF4-7CA4-FB170F32D68B}"/>
              </a:ext>
            </a:extLst>
          </p:cNvPr>
          <p:cNvSpPr txBox="1"/>
          <p:nvPr/>
        </p:nvSpPr>
        <p:spPr>
          <a:xfrm>
            <a:off x="1371599" y="2316838"/>
            <a:ext cx="10095723" cy="2862322"/>
          </a:xfrm>
          <a:prstGeom prst="rect">
            <a:avLst/>
          </a:prstGeom>
          <a:noFill/>
        </p:spPr>
        <p:txBody>
          <a:bodyPr wrap="square" rtlCol="0">
            <a:spAutoFit/>
          </a:bodyPr>
          <a:lstStyle/>
          <a:p>
            <a:pPr algn="just"/>
            <a:r>
              <a:rPr lang="es-ES" sz="2000" dirty="0">
                <a:solidFill>
                  <a:srgbClr val="464646"/>
                </a:solidFill>
                <a:latin typeface="Gill Sans MT" panose="020B0502020104020203" pitchFamily="34" charset="0"/>
              </a:rPr>
              <a:t>Dentro del plan de capacitación se contempla:</a:t>
            </a:r>
          </a:p>
          <a:p>
            <a:pPr algn="just"/>
            <a:endParaRPr lang="es-ES" sz="2000" b="0" i="0" dirty="0">
              <a:solidFill>
                <a:srgbClr val="464646"/>
              </a:solidFill>
              <a:effectLst/>
              <a:latin typeface="Gill Sans MT" panose="020B0502020104020203" pitchFamily="34" charset="0"/>
            </a:endParaRPr>
          </a:p>
          <a:p>
            <a:pPr algn="just"/>
            <a:r>
              <a:rPr lang="es-ES" sz="2000" dirty="0">
                <a:solidFill>
                  <a:srgbClr val="464646"/>
                </a:solidFill>
                <a:latin typeface="Gill Sans MT" panose="020B0502020104020203" pitchFamily="34" charset="0"/>
              </a:rPr>
              <a:t>Capacitación en química del fuego y manejo de extintores</a:t>
            </a:r>
          </a:p>
          <a:p>
            <a:pPr algn="just"/>
            <a:r>
              <a:rPr lang="es-ES" sz="2000" b="0" i="0" dirty="0">
                <a:solidFill>
                  <a:srgbClr val="464646"/>
                </a:solidFill>
                <a:effectLst/>
                <a:latin typeface="Gill Sans MT" panose="020B0502020104020203" pitchFamily="34" charset="0"/>
              </a:rPr>
              <a:t>Capacitación primer respondiente, primeros auxilios</a:t>
            </a:r>
          </a:p>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Se realizará la citación por medio del grupo  de WhatsApp, estas actividades se realizan de forma virtual.</a:t>
            </a:r>
          </a:p>
          <a:p>
            <a:pPr algn="just"/>
            <a:endParaRPr lang="es-ES" sz="2000" dirty="0">
              <a:solidFill>
                <a:srgbClr val="464646"/>
              </a:solidFill>
              <a:latin typeface="Gill Sans MT" panose="020B0502020104020203" pitchFamily="34" charset="0"/>
            </a:endParaRPr>
          </a:p>
          <a:p>
            <a:pPr algn="just"/>
            <a:endParaRPr lang="es-ES" sz="2000" b="0" i="0" dirty="0">
              <a:solidFill>
                <a:srgbClr val="464646"/>
              </a:solidFill>
              <a:effectLst/>
              <a:latin typeface="Gill Sans MT" panose="020B0502020104020203" pitchFamily="34" charset="0"/>
            </a:endParaRPr>
          </a:p>
        </p:txBody>
      </p:sp>
      <p:sp>
        <p:nvSpPr>
          <p:cNvPr id="3" name="CuadroTexto 2">
            <a:extLst>
              <a:ext uri="{FF2B5EF4-FFF2-40B4-BE49-F238E27FC236}">
                <a16:creationId xmlns:a16="http://schemas.microsoft.com/office/drawing/2014/main" id="{B216734D-4D8A-C9C0-AE45-08B4D9D7EC0E}"/>
              </a:ext>
            </a:extLst>
          </p:cNvPr>
          <p:cNvSpPr txBox="1"/>
          <p:nvPr/>
        </p:nvSpPr>
        <p:spPr>
          <a:xfrm>
            <a:off x="2058803" y="842280"/>
            <a:ext cx="8556171" cy="707886"/>
          </a:xfrm>
          <a:prstGeom prst="rect">
            <a:avLst/>
          </a:prstGeom>
          <a:noFill/>
        </p:spPr>
        <p:txBody>
          <a:bodyPr wrap="square" rtlCol="0">
            <a:spAutoFit/>
          </a:bodyPr>
          <a:lstStyle/>
          <a:p>
            <a:pPr algn="ctr"/>
            <a:r>
              <a:rPr lang="es-CO" sz="4000" dirty="0">
                <a:latin typeface="Gill Sans MT" panose="020B0502020104020203" pitchFamily="34" charset="0"/>
              </a:rPr>
              <a:t>Atención de emergencias</a:t>
            </a:r>
          </a:p>
        </p:txBody>
      </p:sp>
      <p:pic>
        <p:nvPicPr>
          <p:cNvPr id="4" name="Imagen 3">
            <a:extLst>
              <a:ext uri="{FF2B5EF4-FFF2-40B4-BE49-F238E27FC236}">
                <a16:creationId xmlns:a16="http://schemas.microsoft.com/office/drawing/2014/main" id="{50A88F64-4B36-B01F-20A1-3FFC80A3E7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585" y="83950"/>
            <a:ext cx="1112273" cy="1112273"/>
          </a:xfrm>
          <a:prstGeom prst="rect">
            <a:avLst/>
          </a:prstGeom>
        </p:spPr>
      </p:pic>
    </p:spTree>
    <p:extLst>
      <p:ext uri="{BB962C8B-B14F-4D97-AF65-F5344CB8AC3E}">
        <p14:creationId xmlns:p14="http://schemas.microsoft.com/office/powerpoint/2010/main" val="4931855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D2915-F251-258E-EF10-1914789F52E9}"/>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0653266E-D06A-5FCF-327B-A87B1BE18063}"/>
              </a:ext>
            </a:extLst>
          </p:cNvPr>
          <p:cNvSpPr txBox="1"/>
          <p:nvPr/>
        </p:nvSpPr>
        <p:spPr>
          <a:xfrm>
            <a:off x="1322438" y="2071032"/>
            <a:ext cx="10095723" cy="3477875"/>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En OBRAIN S.A.S.  todos los trabajadores están contratados por prestación de servicios, no se puede nombrar a un trabajador independiente como representante del Comité Paritario de Seguridad y Salud en el Trabajo (COPASST) debido a que no cumple con la naturaleza del vínculo laboral que exige la normativa vigente.</a:t>
            </a:r>
          </a:p>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Fundamentación jurídica y técnica:</a:t>
            </a:r>
          </a:p>
          <a:p>
            <a:pPr algn="just"/>
            <a:r>
              <a:rPr lang="es-ES" sz="2000" b="0" i="0" dirty="0">
                <a:solidFill>
                  <a:srgbClr val="464646"/>
                </a:solidFill>
                <a:effectLst/>
                <a:latin typeface="Gill Sans MT" panose="020B0502020104020203" pitchFamily="34" charset="0"/>
              </a:rPr>
              <a:t>Naturaleza del COPASST:</a:t>
            </a:r>
          </a:p>
          <a:p>
            <a:pPr algn="just"/>
            <a:r>
              <a:rPr lang="es-ES" sz="2000" b="0" i="0" dirty="0">
                <a:solidFill>
                  <a:srgbClr val="464646"/>
                </a:solidFill>
                <a:effectLst/>
                <a:latin typeface="Gill Sans MT" panose="020B0502020104020203" pitchFamily="34" charset="0"/>
              </a:rPr>
              <a:t>El COPASST está regulado principalmente por la Resolución 2013 de 1986 del Ministerio de Trabajo (Colombia), y está compuesto por representantes del empleador y representantes de los trabajadores, quienes deben ser empleados vinculados mediante una relación laboral directa (contrato de trabajo).</a:t>
            </a:r>
          </a:p>
        </p:txBody>
      </p:sp>
      <p:sp>
        <p:nvSpPr>
          <p:cNvPr id="3" name="CuadroTexto 2">
            <a:extLst>
              <a:ext uri="{FF2B5EF4-FFF2-40B4-BE49-F238E27FC236}">
                <a16:creationId xmlns:a16="http://schemas.microsoft.com/office/drawing/2014/main" id="{98F9D4FA-4C5B-D897-7BDC-773B392321B4}"/>
              </a:ext>
            </a:extLst>
          </p:cNvPr>
          <p:cNvSpPr txBox="1"/>
          <p:nvPr/>
        </p:nvSpPr>
        <p:spPr>
          <a:xfrm>
            <a:off x="1685178" y="793119"/>
            <a:ext cx="8556171" cy="707886"/>
          </a:xfrm>
          <a:prstGeom prst="rect">
            <a:avLst/>
          </a:prstGeom>
          <a:noFill/>
        </p:spPr>
        <p:txBody>
          <a:bodyPr wrap="square" rtlCol="0">
            <a:spAutoFit/>
          </a:bodyPr>
          <a:lstStyle/>
          <a:p>
            <a:pPr algn="ctr"/>
            <a:r>
              <a:rPr lang="es-CO" sz="4000" dirty="0">
                <a:latin typeface="Gill Sans MT" panose="020B0502020104020203" pitchFamily="34" charset="0"/>
              </a:rPr>
              <a:t>Consideraciones especiales</a:t>
            </a:r>
          </a:p>
        </p:txBody>
      </p:sp>
      <p:pic>
        <p:nvPicPr>
          <p:cNvPr id="4" name="Imagen 3">
            <a:extLst>
              <a:ext uri="{FF2B5EF4-FFF2-40B4-BE49-F238E27FC236}">
                <a16:creationId xmlns:a16="http://schemas.microsoft.com/office/drawing/2014/main" id="{A01C9DD8-A403-6AEB-F52F-F5EF4384E5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165" y="34789"/>
            <a:ext cx="1112273" cy="1112273"/>
          </a:xfrm>
          <a:prstGeom prst="rect">
            <a:avLst/>
          </a:prstGeom>
        </p:spPr>
      </p:pic>
    </p:spTree>
    <p:extLst>
      <p:ext uri="{BB962C8B-B14F-4D97-AF65-F5344CB8AC3E}">
        <p14:creationId xmlns:p14="http://schemas.microsoft.com/office/powerpoint/2010/main" val="11418567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9BEA3-9BB7-57E4-9AFD-33DBE626E143}"/>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0E87F2C9-CA09-0E86-2E99-48AD7AF6DAAA}"/>
              </a:ext>
            </a:extLst>
          </p:cNvPr>
          <p:cNvSpPr txBox="1"/>
          <p:nvPr/>
        </p:nvSpPr>
        <p:spPr>
          <a:xfrm>
            <a:off x="1371599" y="2316838"/>
            <a:ext cx="10095723" cy="3170099"/>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Vínculo laboral:</a:t>
            </a:r>
          </a:p>
          <a:p>
            <a:pPr algn="just"/>
            <a:r>
              <a:rPr lang="es-ES" sz="2000" b="0" i="0" dirty="0">
                <a:solidFill>
                  <a:srgbClr val="464646"/>
                </a:solidFill>
                <a:effectLst/>
                <a:latin typeface="Gill Sans MT" panose="020B0502020104020203" pitchFamily="34" charset="0"/>
              </a:rPr>
              <a:t>Un trabajador independiente no tiene una relación laboral subordinada. Es decir, no forma parte de la planta de personal de la empresa, ni está sujeto al poder subordinante del empleador.</a:t>
            </a:r>
          </a:p>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Representatividad:</a:t>
            </a:r>
          </a:p>
          <a:p>
            <a:pPr algn="just"/>
            <a:r>
              <a:rPr lang="es-ES" sz="2000" b="0" i="0" dirty="0">
                <a:solidFill>
                  <a:srgbClr val="464646"/>
                </a:solidFill>
                <a:effectLst/>
                <a:latin typeface="Gill Sans MT" panose="020B0502020104020203" pitchFamily="34" charset="0"/>
              </a:rPr>
              <a:t>Los integrantes del COPASST deben ser elegidos por los trabajadores vinculados laboralmente, y su rol incluye la participación activa en la identificación de peligros, evaluación de riesgos y en la promoción de una cultura preventiva dentro de la organización. Este tipo de representatividad no aplica para independientes, ya que su gestión de riesgos laborales es autónoma y no está sujeta a las políticas internas del empleador.</a:t>
            </a:r>
          </a:p>
        </p:txBody>
      </p:sp>
      <p:sp>
        <p:nvSpPr>
          <p:cNvPr id="3" name="CuadroTexto 2">
            <a:extLst>
              <a:ext uri="{FF2B5EF4-FFF2-40B4-BE49-F238E27FC236}">
                <a16:creationId xmlns:a16="http://schemas.microsoft.com/office/drawing/2014/main" id="{AC5ACE0A-D957-047B-F798-EAB4217D322F}"/>
              </a:ext>
            </a:extLst>
          </p:cNvPr>
          <p:cNvSpPr txBox="1"/>
          <p:nvPr/>
        </p:nvSpPr>
        <p:spPr>
          <a:xfrm>
            <a:off x="1685178" y="793119"/>
            <a:ext cx="8556171" cy="707886"/>
          </a:xfrm>
          <a:prstGeom prst="rect">
            <a:avLst/>
          </a:prstGeom>
          <a:noFill/>
        </p:spPr>
        <p:txBody>
          <a:bodyPr wrap="square" rtlCol="0">
            <a:spAutoFit/>
          </a:bodyPr>
          <a:lstStyle/>
          <a:p>
            <a:pPr algn="ctr"/>
            <a:r>
              <a:rPr lang="es-CO" sz="4000" dirty="0">
                <a:latin typeface="Gill Sans MT" panose="020B0502020104020203" pitchFamily="34" charset="0"/>
              </a:rPr>
              <a:t>Consideraciones especiales</a:t>
            </a:r>
          </a:p>
        </p:txBody>
      </p:sp>
      <p:pic>
        <p:nvPicPr>
          <p:cNvPr id="4" name="Imagen 3">
            <a:extLst>
              <a:ext uri="{FF2B5EF4-FFF2-40B4-BE49-F238E27FC236}">
                <a16:creationId xmlns:a16="http://schemas.microsoft.com/office/drawing/2014/main" id="{85634E98-D07A-283B-3236-A7446C0ED2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326" y="119729"/>
            <a:ext cx="1112273" cy="1112273"/>
          </a:xfrm>
          <a:prstGeom prst="rect">
            <a:avLst/>
          </a:prstGeom>
        </p:spPr>
      </p:pic>
    </p:spTree>
    <p:extLst>
      <p:ext uri="{BB962C8B-B14F-4D97-AF65-F5344CB8AC3E}">
        <p14:creationId xmlns:p14="http://schemas.microsoft.com/office/powerpoint/2010/main" val="40204785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26DFC-D337-935F-8FB4-2F718DAE9F0B}"/>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82710291-605A-1F8F-DFA4-4B5B15DAE823}"/>
              </a:ext>
            </a:extLst>
          </p:cNvPr>
          <p:cNvSpPr txBox="1"/>
          <p:nvPr/>
        </p:nvSpPr>
        <p:spPr>
          <a:xfrm>
            <a:off x="1371599" y="2316838"/>
            <a:ext cx="10095723" cy="3477875"/>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Un trabajador independiente no puede ser nombrado como representante del Comité de Convivencia Laboral porque no hace parte de la estructura laboral formal de la empresa y, por lo tanto, no cumple con los requisitos establecidos en la normatividad vigente para integrar dicho comité.</a:t>
            </a:r>
          </a:p>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Fundamentación normativa y técnica:</a:t>
            </a:r>
          </a:p>
          <a:p>
            <a:pPr algn="just"/>
            <a:r>
              <a:rPr lang="es-ES" sz="2000" b="0" i="0" dirty="0">
                <a:solidFill>
                  <a:srgbClr val="464646"/>
                </a:solidFill>
                <a:effectLst/>
                <a:latin typeface="Gill Sans MT" panose="020B0502020104020203" pitchFamily="34" charset="0"/>
              </a:rPr>
              <a:t>Marco normativo aplicable:</a:t>
            </a:r>
          </a:p>
          <a:p>
            <a:pPr algn="just"/>
            <a:r>
              <a:rPr lang="es-ES" sz="2000" b="0" i="0" dirty="0">
                <a:solidFill>
                  <a:srgbClr val="464646"/>
                </a:solidFill>
                <a:effectLst/>
                <a:latin typeface="Gill Sans MT" panose="020B0502020104020203" pitchFamily="34" charset="0"/>
              </a:rPr>
              <a:t>La conformación y funcionamiento del Comité de Convivencia Laboral está regulado principalmente por la Resolución 652 de 2012 y la Resolución 1356 de 2012 del Ministerio de Trabajo (Colombia). Estas disposiciones indican expresamente que el comité debe estar integrado por:</a:t>
            </a:r>
          </a:p>
        </p:txBody>
      </p:sp>
      <p:sp>
        <p:nvSpPr>
          <p:cNvPr id="3" name="CuadroTexto 2">
            <a:extLst>
              <a:ext uri="{FF2B5EF4-FFF2-40B4-BE49-F238E27FC236}">
                <a16:creationId xmlns:a16="http://schemas.microsoft.com/office/drawing/2014/main" id="{0E4D61CD-B55B-72B0-01CE-737AEF709558}"/>
              </a:ext>
            </a:extLst>
          </p:cNvPr>
          <p:cNvSpPr txBox="1"/>
          <p:nvPr/>
        </p:nvSpPr>
        <p:spPr>
          <a:xfrm>
            <a:off x="1685178" y="793119"/>
            <a:ext cx="8556171" cy="707886"/>
          </a:xfrm>
          <a:prstGeom prst="rect">
            <a:avLst/>
          </a:prstGeom>
          <a:noFill/>
        </p:spPr>
        <p:txBody>
          <a:bodyPr wrap="square" rtlCol="0">
            <a:spAutoFit/>
          </a:bodyPr>
          <a:lstStyle/>
          <a:p>
            <a:pPr algn="ctr"/>
            <a:r>
              <a:rPr lang="es-CO" sz="4000" dirty="0">
                <a:latin typeface="Gill Sans MT" panose="020B0502020104020203" pitchFamily="34" charset="0"/>
              </a:rPr>
              <a:t>Consideraciones especiales</a:t>
            </a:r>
          </a:p>
        </p:txBody>
      </p:sp>
      <p:pic>
        <p:nvPicPr>
          <p:cNvPr id="4" name="Imagen 3">
            <a:extLst>
              <a:ext uri="{FF2B5EF4-FFF2-40B4-BE49-F238E27FC236}">
                <a16:creationId xmlns:a16="http://schemas.microsoft.com/office/drawing/2014/main" id="{80ED7487-E157-C5C1-D3B3-3C1EF0AAB8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326" y="34789"/>
            <a:ext cx="1112273" cy="1112273"/>
          </a:xfrm>
          <a:prstGeom prst="rect">
            <a:avLst/>
          </a:prstGeom>
        </p:spPr>
      </p:pic>
    </p:spTree>
    <p:extLst>
      <p:ext uri="{BB962C8B-B14F-4D97-AF65-F5344CB8AC3E}">
        <p14:creationId xmlns:p14="http://schemas.microsoft.com/office/powerpoint/2010/main" val="4636197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3D6E-8938-6318-2937-912863E17AAB}"/>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95793090-7E9E-ADBE-5D00-998240AAE75B}"/>
              </a:ext>
            </a:extLst>
          </p:cNvPr>
          <p:cNvSpPr txBox="1"/>
          <p:nvPr/>
        </p:nvSpPr>
        <p:spPr>
          <a:xfrm>
            <a:off x="1371599" y="2316838"/>
            <a:ext cx="10095723" cy="3477875"/>
          </a:xfrm>
          <a:prstGeom prst="rect">
            <a:avLst/>
          </a:prstGeom>
          <a:noFill/>
        </p:spPr>
        <p:txBody>
          <a:bodyPr wrap="square" rtlCol="0">
            <a:spAutoFit/>
          </a:bodyPr>
          <a:lstStyle/>
          <a:p>
            <a:pPr algn="just"/>
            <a:r>
              <a:rPr lang="es-ES" sz="2000" b="0" i="0" dirty="0">
                <a:solidFill>
                  <a:srgbClr val="464646"/>
                </a:solidFill>
                <a:effectLst/>
                <a:latin typeface="Gill Sans MT" panose="020B0502020104020203" pitchFamily="34" charset="0"/>
              </a:rPr>
              <a:t>Representantes del empleador.</a:t>
            </a:r>
          </a:p>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Representantes de los trabajadores, todos vinculados mediante contrato laboral.</a:t>
            </a:r>
          </a:p>
          <a:p>
            <a:pPr algn="just"/>
            <a:endParaRPr lang="es-ES" sz="2000" b="0" i="0" dirty="0">
              <a:solidFill>
                <a:srgbClr val="464646"/>
              </a:solidFill>
              <a:effectLst/>
              <a:latin typeface="Gill Sans MT" panose="020B0502020104020203" pitchFamily="34" charset="0"/>
            </a:endParaRPr>
          </a:p>
          <a:p>
            <a:pPr algn="just"/>
            <a:r>
              <a:rPr lang="es-ES" sz="2000" b="0" i="0" dirty="0">
                <a:solidFill>
                  <a:srgbClr val="464646"/>
                </a:solidFill>
                <a:effectLst/>
                <a:latin typeface="Gill Sans MT" panose="020B0502020104020203" pitchFamily="34" charset="0"/>
              </a:rPr>
              <a:t>Relación laboral como requisito esencial:</a:t>
            </a:r>
          </a:p>
          <a:p>
            <a:pPr algn="just"/>
            <a:r>
              <a:rPr lang="es-ES" sz="2000" b="0" i="0" dirty="0">
                <a:solidFill>
                  <a:srgbClr val="464646"/>
                </a:solidFill>
                <a:effectLst/>
                <a:latin typeface="Gill Sans MT" panose="020B0502020104020203" pitchFamily="34" charset="0"/>
              </a:rPr>
              <a:t>La normativa exige que los miembros del comité sean trabajadores dependientes, es decir, que tengan una relación de subordinación y dependencia laboral con la empresa. Los trabajadores independientes, al prestar sus servicios mediante contratos civiles, comerciales o de prestación de servicios, no están sujetos al reglamento interno de trabajo ni a las disposiciones disciplinarias de la organización, lo cual los inhabilita para representar o ser representados en el comité.</a:t>
            </a:r>
          </a:p>
        </p:txBody>
      </p:sp>
      <p:sp>
        <p:nvSpPr>
          <p:cNvPr id="3" name="CuadroTexto 2">
            <a:extLst>
              <a:ext uri="{FF2B5EF4-FFF2-40B4-BE49-F238E27FC236}">
                <a16:creationId xmlns:a16="http://schemas.microsoft.com/office/drawing/2014/main" id="{342D9A24-75C3-8BA2-B999-8C891916043D}"/>
              </a:ext>
            </a:extLst>
          </p:cNvPr>
          <p:cNvSpPr txBox="1"/>
          <p:nvPr/>
        </p:nvSpPr>
        <p:spPr>
          <a:xfrm>
            <a:off x="1685178" y="793119"/>
            <a:ext cx="8556171" cy="707886"/>
          </a:xfrm>
          <a:prstGeom prst="rect">
            <a:avLst/>
          </a:prstGeom>
          <a:noFill/>
        </p:spPr>
        <p:txBody>
          <a:bodyPr wrap="square" rtlCol="0">
            <a:spAutoFit/>
          </a:bodyPr>
          <a:lstStyle/>
          <a:p>
            <a:pPr algn="ctr"/>
            <a:r>
              <a:rPr lang="es-CO" sz="4000" dirty="0">
                <a:latin typeface="Gill Sans MT" panose="020B0502020104020203" pitchFamily="34" charset="0"/>
              </a:rPr>
              <a:t>Consideraciones especiales</a:t>
            </a:r>
          </a:p>
        </p:txBody>
      </p:sp>
      <p:pic>
        <p:nvPicPr>
          <p:cNvPr id="4" name="Imagen 3">
            <a:extLst>
              <a:ext uri="{FF2B5EF4-FFF2-40B4-BE49-F238E27FC236}">
                <a16:creationId xmlns:a16="http://schemas.microsoft.com/office/drawing/2014/main" id="{CA7EA7C0-65BE-E5BA-33C6-75FBD3FD9D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592" y="34789"/>
            <a:ext cx="1112273" cy="1112273"/>
          </a:xfrm>
          <a:prstGeom prst="rect">
            <a:avLst/>
          </a:prstGeom>
        </p:spPr>
      </p:pic>
    </p:spTree>
    <p:extLst>
      <p:ext uri="{BB962C8B-B14F-4D97-AF65-F5344CB8AC3E}">
        <p14:creationId xmlns:p14="http://schemas.microsoft.com/office/powerpoint/2010/main" val="152763637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355</TotalTime>
  <Words>2693</Words>
  <Application>Microsoft Office PowerPoint</Application>
  <PresentationFormat>Panorámica</PresentationFormat>
  <Paragraphs>203</Paragraphs>
  <Slides>40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40</vt:i4>
      </vt:variant>
    </vt:vector>
  </HeadingPairs>
  <TitlesOfParts>
    <vt:vector size="45" baseType="lpstr">
      <vt:lpstr>Arial</vt:lpstr>
      <vt:lpstr>Calibri</vt:lpstr>
      <vt:lpstr>Calibri Light</vt:lpstr>
      <vt:lpstr>Gill Sans MT</vt:lpstr>
      <vt:lpstr>Tema de Office</vt:lpstr>
      <vt:lpstr>INDUCCIÓN EN SST</vt:lpstr>
      <vt:lpstr>Presentación de PowerPoint</vt:lpstr>
      <vt:lpstr>Definiciones</vt:lpstr>
      <vt:lpstr>Definiciones</vt:lpstr>
      <vt:lpstr>Definiciones</vt:lpstr>
      <vt:lpstr>Definiciones</vt:lpstr>
      <vt:lpstr>Reporte de accidente de trabajo</vt:lpstr>
      <vt:lpstr>Reporte de accidente de trabajo</vt:lpstr>
      <vt:lpstr>Reporte de accidente de trabajo</vt:lpstr>
      <vt:lpstr>Definiciones</vt:lpstr>
      <vt:lpstr>Definiciones</vt:lpstr>
      <vt:lpstr>Definiciones</vt:lpstr>
      <vt:lpstr>Definiciones</vt:lpstr>
      <vt:lpstr>Presentación de PowerPoint</vt:lpstr>
      <vt:lpstr>Presentación de PowerPoint</vt:lpstr>
      <vt:lpstr>Reporte de peligros y riesgos</vt:lpstr>
      <vt:lpstr>Política SST</vt:lpstr>
      <vt:lpstr>Política SST</vt:lpstr>
      <vt:lpstr>Política SST</vt:lpstr>
      <vt:lpstr>Política Prevención consumo</vt:lpstr>
      <vt:lpstr>Política Prevención consumo</vt:lpstr>
      <vt:lpstr>Política Prevención consumo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Sandra Milena Valencia Quivano</dc:creator>
  <cp:lastModifiedBy>Sandra Milena Valencia Quivano</cp:lastModifiedBy>
  <cp:revision>18</cp:revision>
  <dcterms:created xsi:type="dcterms:W3CDTF">2025-07-05T14:38:41Z</dcterms:created>
  <dcterms:modified xsi:type="dcterms:W3CDTF">2026-08-16T13:57:45Z</dcterms:modified>
</cp:coreProperties>
</file>